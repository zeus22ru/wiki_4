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027472742e4e02" /><Relationship Type="http://schemas.openxmlformats.org/officeDocument/2006/relationships/extended-properties" Target="/docProps/app.xml" Id="R2fb195f2668a44e3" /><Relationship Type="http://schemas.openxmlformats.org/officeDocument/2006/relationships/officeDocument" Target="/ppt/presentation.xml" Id="R31708c1f01b34c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ee455af984485b"/>
  </p:sldMasterIdLst>
  <p:notesMasterIdLst>
    <p:notesMasterId xmlns:r="http://schemas.openxmlformats.org/officeDocument/2006/relationships" r:id="R18395728f06f4e33"/>
  </p:notesMasterIdLst>
  <p:sldIdLst>
    <p:sldId xmlns:r="http://schemas.openxmlformats.org/officeDocument/2006/relationships" id="256" r:id="R4496d7c97d6747c0"/>
    <p:sldId xmlns:r="http://schemas.openxmlformats.org/officeDocument/2006/relationships" id="257" r:id="Rb395099a2dff4b5b"/>
    <p:sldId xmlns:r="http://schemas.openxmlformats.org/officeDocument/2006/relationships" id="258" r:id="R63ded0d4256348f0"/>
    <p:sldId xmlns:r="http://schemas.openxmlformats.org/officeDocument/2006/relationships" id="259" r:id="R4ef2bdb7ea964e76"/>
    <p:sldId xmlns:r="http://schemas.openxmlformats.org/officeDocument/2006/relationships" id="260" r:id="Rdbab159152ea4677"/>
    <p:sldId xmlns:r="http://schemas.openxmlformats.org/officeDocument/2006/relationships" id="261" r:id="R7380bac0ae1d4c66"/>
    <p:sldId xmlns:r="http://schemas.openxmlformats.org/officeDocument/2006/relationships" id="262" r:id="Refb0e70fc5114c82"/>
    <p:sldId xmlns:r="http://schemas.openxmlformats.org/officeDocument/2006/relationships" id="263" r:id="R8cbc464bd5324006"/>
    <p:sldId xmlns:r="http://schemas.openxmlformats.org/officeDocument/2006/relationships" id="264" r:id="Rea422a0926f54cc8"/>
    <p:sldId xmlns:r="http://schemas.openxmlformats.org/officeDocument/2006/relationships" id="265" r:id="R023cfa198924494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13839dbfc34751" /><Relationship Type="http://schemas.openxmlformats.org/officeDocument/2006/relationships/slideMaster" Target="/ppt/slideMasters/slideMaster1.xml" Id="Ra8ee455af984485b" /><Relationship Type="http://schemas.openxmlformats.org/officeDocument/2006/relationships/notesMaster" Target="/ppt/notesMasters/notesMaster1.xml" Id="R18395728f06f4e33" /><Relationship Type="http://schemas.openxmlformats.org/officeDocument/2006/relationships/presProps" Target="/ppt/presProps.xml" Id="Re858196e54724ca4" /><Relationship Type="http://schemas.openxmlformats.org/officeDocument/2006/relationships/tableStyles" Target="/ppt/tableStyles.xml" Id="R15a704b88e1f4d5f" /><Relationship Type="http://schemas.openxmlformats.org/officeDocument/2006/relationships/slide" Target="/ppt/slides/slide1.xml" Id="R4496d7c97d6747c0" /><Relationship Type="http://schemas.openxmlformats.org/officeDocument/2006/relationships/slide" Target="/ppt/slides/slide2.xml" Id="Rb395099a2dff4b5b" /><Relationship Type="http://schemas.openxmlformats.org/officeDocument/2006/relationships/slide" Target="/ppt/slides/slide3.xml" Id="R63ded0d4256348f0" /><Relationship Type="http://schemas.openxmlformats.org/officeDocument/2006/relationships/slide" Target="/ppt/slides/slide4.xml" Id="R4ef2bdb7ea964e76" /><Relationship Type="http://schemas.openxmlformats.org/officeDocument/2006/relationships/slide" Target="/ppt/slides/slide5.xml" Id="Rdbab159152ea4677" /><Relationship Type="http://schemas.openxmlformats.org/officeDocument/2006/relationships/slide" Target="/ppt/slides/slide6.xml" Id="R7380bac0ae1d4c66" /><Relationship Type="http://schemas.openxmlformats.org/officeDocument/2006/relationships/slide" Target="/ppt/slides/slide7.xml" Id="Refb0e70fc5114c82" /><Relationship Type="http://schemas.openxmlformats.org/officeDocument/2006/relationships/slide" Target="/ppt/slides/slide8.xml" Id="R8cbc464bd5324006" /><Relationship Type="http://schemas.openxmlformats.org/officeDocument/2006/relationships/slide" Target="/ppt/slides/slide9.xml" Id="Rea422a0926f54cc8" /><Relationship Type="http://schemas.openxmlformats.org/officeDocument/2006/relationships/slide" Target="/ppt/slides/slide10.xml" Id="R023cfa19892449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d7a7ef5d1549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94fbe9c9f64318" /><Relationship Type="http://schemas.openxmlformats.org/officeDocument/2006/relationships/notesMaster" Target="/ppt/notesMasters/notesMaster1.xml" Id="R86a44c9efe974b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9554b1c0b547d4" /><Relationship Type="http://schemas.openxmlformats.org/officeDocument/2006/relationships/notesMaster" Target="/ppt/notesMasters/notesMaster1.xml" Id="R88303f4b0d574b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d2ffd00eb741b6" /><Relationship Type="http://schemas.openxmlformats.org/officeDocument/2006/relationships/notesMaster" Target="/ppt/notesMasters/notesMaster1.xml" Id="R612f815b333544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664a8046c34931" /><Relationship Type="http://schemas.openxmlformats.org/officeDocument/2006/relationships/notesMaster" Target="/ppt/notesMasters/notesMaster1.xml" Id="R43ad6842c2064b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36e126272a4ffc" /><Relationship Type="http://schemas.openxmlformats.org/officeDocument/2006/relationships/notesMaster" Target="/ppt/notesMasters/notesMaster1.xml" Id="R213f2e7a8fe44d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1818d12db549c5" /><Relationship Type="http://schemas.openxmlformats.org/officeDocument/2006/relationships/notesMaster" Target="/ppt/notesMasters/notesMaster1.xml" Id="R0bc5fe4d77424e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e47be3e7da42ef" /><Relationship Type="http://schemas.openxmlformats.org/officeDocument/2006/relationships/notesMaster" Target="/ppt/notesMasters/notesMaster1.xml" Id="Rb750cef4073f4f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f271d72bc241d9" /><Relationship Type="http://schemas.openxmlformats.org/officeDocument/2006/relationships/notesMaster" Target="/ppt/notesMasters/notesMaster1.xml" Id="R0511da9dc8d244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3674900f904a93" /><Relationship Type="http://schemas.openxmlformats.org/officeDocument/2006/relationships/notesMaster" Target="/ppt/notesMasters/notesMaster1.xml" Id="Rceb91491c55d49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11e736fb2041a3" /><Relationship Type="http://schemas.openxmlformats.org/officeDocument/2006/relationships/notesMaster" Target="/ppt/notesMasters/notesMaster1.xml" Id="R3c19359b5d8040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3cc0b9f2ac4c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fe6c84bf644fad" /><Relationship Type="http://schemas.openxmlformats.org/officeDocument/2006/relationships/slideLayout" Target="/ppt/slideLayouts/slideLayout1.xml" Id="R3c05b3bf9c5540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05b3bf9c5540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72f6c06d64641" /><Relationship Type="http://schemas.openxmlformats.org/officeDocument/2006/relationships/notesSlide" Target="/ppt/notesSlides/notesSlide1.xml" Id="Rbb13c5fb01bc48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aa8bb296b4527" /><Relationship Type="http://schemas.openxmlformats.org/officeDocument/2006/relationships/notesSlide" Target="/ppt/notesSlides/notesSlide2.xml" Id="R5766af03d06848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0a8e0f55b4208" /><Relationship Type="http://schemas.openxmlformats.org/officeDocument/2006/relationships/image" Target="/ppt/media/image.png" Id="R083148dddf9e408e" /><Relationship Type="http://schemas.openxmlformats.org/officeDocument/2006/relationships/notesSlide" Target="/ppt/notesSlides/notesSlide3.xml" Id="R44647a74d5ba4d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0ff30a95646f5" /><Relationship Type="http://schemas.openxmlformats.org/officeDocument/2006/relationships/image" Target="/ppt/media/image2.png" Id="R7475ddd13cfd4938" /><Relationship Type="http://schemas.openxmlformats.org/officeDocument/2006/relationships/notesSlide" Target="/ppt/notesSlides/notesSlide4.xml" Id="Re788488411df42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f235ef673494c" /><Relationship Type="http://schemas.openxmlformats.org/officeDocument/2006/relationships/image" Target="/ppt/media/image3.png" Id="R723afdf56ab3465d" /><Relationship Type="http://schemas.openxmlformats.org/officeDocument/2006/relationships/notesSlide" Target="/ppt/notesSlides/notesSlide5.xml" Id="Rba1d664ca62340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6b6422e1e4afc" /><Relationship Type="http://schemas.openxmlformats.org/officeDocument/2006/relationships/image" Target="/ppt/media/image4.png" Id="R47c192ac60b54da8" /><Relationship Type="http://schemas.openxmlformats.org/officeDocument/2006/relationships/notesSlide" Target="/ppt/notesSlides/notesSlide6.xml" Id="R5193d83b09a542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00011dda44728" /><Relationship Type="http://schemas.openxmlformats.org/officeDocument/2006/relationships/notesSlide" Target="/ppt/notesSlides/notesSlide7.xml" Id="Ref11557b4c7347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caf966bf140c1" /><Relationship Type="http://schemas.openxmlformats.org/officeDocument/2006/relationships/notesSlide" Target="/ppt/notesSlides/notesSlide8.xml" Id="R76348d5184244a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9dee479bb4175" /><Relationship Type="http://schemas.openxmlformats.org/officeDocument/2006/relationships/notesSlide" Target="/ppt/notesSlides/notesSlide9.xml" Id="Rafcd50835feb4b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76d4bcd274c00" /><Relationship Type="http://schemas.openxmlformats.org/officeDocument/2006/relationships/notesSlide" Target="/ppt/notesSlides/notesSlide10.xml" Id="Rb5bfa6bb2c6841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738DA9-EA12-485C-988F-C6048108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7C5A22"/>
                </a:solidFill>
              </a:defRPr>
            </a:pPr>
            <a:r>
              <a:rPr sz="4650" b="1">
                <a:solidFill>
                  <a:srgbClr val="7C5A22"/>
                </a:solidFill>
              </a:rPr>
              <a:t>БочкарИИ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390A8-C920-44A8-B95D-27322D30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1F1A"/>
                </a:solidFill>
              </a:defRPr>
            </a:pPr>
            <a:r>
              <a:rPr sz="2325" b="1">
                <a:solidFill>
                  <a:srgbClr val="241F1A"/>
                </a:solidFill>
              </a:rPr>
              <a:t>ИИ-помощник по базе знаний для технической группы сопровождения разработчиков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84099-10D8-455E-BD75-3634D574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6559"/>
                </a:solidFill>
              </a:defRPr>
            </a:pPr>
            <a:r>
              <a:rPr sz="1725" b="0">
                <a:solidFill>
                  <a:srgbClr val="6F6559"/>
                </a:solidFill>
              </a:rPr>
              <a:t>Как быстро находить проверенные инструкции, решения ошибок и нужные документы в одном месте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59710-B0C0-4A01-B898-55FC96C4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704850"/>
            <a:ext cx="3714750" cy="45910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7130F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D19DE-E86D-4EA0-A775-CBA7696C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001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DF8"/>
                </a:solidFill>
              </a:defRPr>
            </a:pPr>
            <a:r>
              <a:rPr sz="1950" b="1">
                <a:solidFill>
                  <a:srgbClr val="FFFDF8"/>
                </a:solidFill>
              </a:rPr>
              <a:t>Для коллег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CFBD0-C204-464A-A7EA-9DDC2F60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2724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EADB"/>
                </a:solidFill>
              </a:defRPr>
            </a:pPr>
            <a:r>
              <a:rPr sz="1875" b="0">
                <a:solidFill>
                  <a:srgbClr val="F4EADB"/>
                </a:solidFill>
              </a:rPr>
              <a:t>меньше повторных вопросов</a:t>
            </a:r>
          </a:p>
          <a:p xmlns:a="http://schemas.openxmlformats.org/drawingml/2006/main">
            <a:pPr algn="l">
              <a:defRPr sz="1875" b="0">
                <a:solidFill>
                  <a:srgbClr val="F4EADB"/>
                </a:solidFill>
              </a:defRPr>
            </a:pPr>
            <a:r>
              <a:rPr sz="1875" b="0">
                <a:solidFill>
                  <a:srgbClr val="F4EADB"/>
                </a:solidFill>
              </a:rPr>
              <a:t>быстрее разбор инцидентов</a:t>
            </a:r>
          </a:p>
          <a:p xmlns:a="http://schemas.openxmlformats.org/drawingml/2006/main">
            <a:pPr algn="l">
              <a:defRPr sz="1875" b="0">
                <a:solidFill>
                  <a:srgbClr val="F4EADB"/>
                </a:solidFill>
              </a:defRPr>
            </a:pPr>
            <a:r>
              <a:rPr sz="1875" b="0">
                <a:solidFill>
                  <a:srgbClr val="F4EADB"/>
                </a:solidFill>
              </a:rPr>
              <a:t>единый ответ с источниками</a:t>
            </a:r>
          </a:p>
          <a:p xmlns:a="http://schemas.openxmlformats.org/drawingml/2006/main">
            <a:pPr algn="l">
              <a:defRPr sz="1875" b="0">
                <a:solidFill>
                  <a:srgbClr val="F4EADB"/>
                </a:solidFill>
              </a:defRPr>
            </a:pPr>
            <a:r>
              <a:rPr sz="1875" b="0">
                <a:solidFill>
                  <a:srgbClr val="F4EADB"/>
                </a:solidFill>
              </a:rPr>
              <a:t>понятная админка базы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53094-DD0C-4413-AF03-B3B68C98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21526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D251B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0C979"/>
                </a:solidFill>
              </a:defRPr>
            </a:pPr>
            <a:r>
              <a:rPr sz="1275" b="1">
                <a:solidFill>
                  <a:srgbClr val="F0C979"/>
                </a:solidFill>
              </a:rPr>
              <a:t>запуск за 2 недели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F84E2-5460-4D44-8D4D-55B3670C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9"/>
                </a:solidFill>
              </a:defRPr>
            </a:pPr>
            <a:r>
              <a:rPr sz="1050" b="0">
                <a:solidFill>
                  <a:srgbClr val="6F6559"/>
                </a:solidFill>
              </a:rPr>
              <a:t>БочкарИИ / база знаний для сопровождения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159E2-3B55-4C77-B325-244BBB01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5A22"/>
                </a:solidFill>
              </a:defRPr>
            </a:pPr>
            <a:r>
              <a:rPr sz="1200" b="1">
                <a:solidFill>
                  <a:srgbClr val="7C5A2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4468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1B015B-D16E-4BCA-8092-F23BC38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1F1A"/>
                </a:solidFill>
              </a:defRPr>
            </a:pPr>
            <a:r>
              <a:rPr sz="2850" b="1">
                <a:solidFill>
                  <a:srgbClr val="241F1A"/>
                </a:solidFill>
              </a:rPr>
              <a:t>Что болит у сопровождения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999CA-27B3-482B-BE51-D32AB3C6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559"/>
                </a:solidFill>
              </a:defRPr>
            </a:pPr>
            <a:r>
              <a:rPr sz="1500" b="0">
                <a:solidFill>
                  <a:srgbClr val="6F6559"/>
                </a:solidFill>
              </a:rPr>
              <a:t>Что происходит, когда знания разбросаны по разным местам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0C21D-D8E7-4320-87C7-7D3F0A0A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9"/>
                </a:solidFill>
              </a:defRPr>
            </a:pPr>
            <a:r>
              <a:rPr sz="1050" b="0">
                <a:solidFill>
                  <a:srgbClr val="6F6559"/>
                </a:solidFill>
              </a:rPr>
              <a:t>БочкарИИ / база знаний для сопровождения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01FC9-4202-4F42-AA93-A7507FD7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5A22"/>
                </a:solidFill>
              </a:defRPr>
            </a:pPr>
            <a:r>
              <a:rPr sz="1200" b="1">
                <a:solidFill>
                  <a:srgbClr val="7C5A22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96590-934E-497F-BDE8-3F6ADA14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9C661-6ADC-4852-8C95-98BA6917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C5A22"/>
                </a:solidFill>
              </a:defRPr>
            </a:pPr>
            <a:r>
              <a:rPr sz="1875" b="1">
                <a:solidFill>
                  <a:srgbClr val="7C5A22"/>
                </a:solidFill>
              </a:rPr>
              <a:t>Повторные вопросы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FD419-750E-4644-AA3C-CEE2E781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559"/>
                </a:solidFill>
              </a:defRPr>
            </a:pPr>
            <a:r>
              <a:rPr sz="1425" b="0">
                <a:solidFill>
                  <a:srgbClr val="6F6559"/>
                </a:solidFill>
              </a:rPr>
              <a:t>одни и те же инструкции ищутся в чатах, wiki и памяти коллег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292F2-EF2A-410F-A354-9CF1D24E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0A80A-5B18-498C-B5C4-F9823619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C5A22"/>
                </a:solidFill>
              </a:defRPr>
            </a:pPr>
            <a:r>
              <a:rPr sz="1875" b="1">
                <a:solidFill>
                  <a:srgbClr val="7C5A22"/>
                </a:solidFill>
              </a:rPr>
              <a:t>Долгий вход в контекст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C2AF6-940C-47A1-B1D6-09237AB8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384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559"/>
                </a:solidFill>
              </a:defRPr>
            </a:pPr>
            <a:r>
              <a:rPr sz="1425" b="0">
                <a:solidFill>
                  <a:srgbClr val="6F6559"/>
                </a:solidFill>
              </a:rPr>
              <a:t>новый сотрудник не знает, где лежит актуальный ответ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1AF5E-D8C8-4FCF-9595-6D8619FF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B4A0F-4D2D-4F23-A3E0-CA2D89A5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004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C5A22"/>
                </a:solidFill>
              </a:defRPr>
            </a:pPr>
            <a:r>
              <a:rPr sz="1875" b="1">
                <a:solidFill>
                  <a:srgbClr val="7C5A22"/>
                </a:solidFill>
              </a:rPr>
              <a:t>Риск устаревших шагов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CDEDE-C993-4E1A-809E-C879CC17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005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559"/>
                </a:solidFill>
              </a:defRPr>
            </a:pPr>
            <a:r>
              <a:rPr sz="1425" b="0">
                <a:solidFill>
                  <a:srgbClr val="6F6559"/>
                </a:solidFill>
              </a:rPr>
              <a:t>старые фрагменты wiki могут попадать в работу как актуальные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BD60B-C569-4422-9D50-5D97A0BA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71875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47457-7CBC-48BD-AC68-AAC85B49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004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C5A22"/>
                </a:solidFill>
              </a:defRPr>
            </a:pPr>
            <a:r>
              <a:rPr sz="1875" b="1">
                <a:solidFill>
                  <a:srgbClr val="7C5A22"/>
                </a:solidFill>
              </a:rPr>
              <a:t>Нет обратной связи в базу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9578B3-AAFB-46E8-BE99-63244245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005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559"/>
                </a:solidFill>
              </a:defRPr>
            </a:pPr>
            <a:r>
              <a:rPr sz="1425" b="0">
                <a:solidFill>
                  <a:srgbClr val="6F6559"/>
                </a:solidFill>
              </a:rPr>
              <a:t>плохой ответ редко превращается в задачу на улучшение документации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0824066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F877E4-1CDC-4D4E-99EA-20C46398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1F1A"/>
                </a:solidFill>
              </a:defRPr>
            </a:pPr>
            <a:r>
              <a:rPr sz="2850" b="1">
                <a:solidFill>
                  <a:srgbClr val="241F1A"/>
                </a:solidFill>
              </a:rPr>
              <a:t>Идея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E6D58-08F0-4880-9A40-99C856FD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559"/>
                </a:solidFill>
              </a:defRPr>
            </a:pPr>
            <a:r>
              <a:rPr sz="1500" b="0">
                <a:solidFill>
                  <a:srgbClr val="6F6559"/>
                </a:solidFill>
              </a:rPr>
              <a:t>Не просто чат, а удобный вход в корпоративные знания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0EAEF-3CB3-4986-A572-7A645020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9"/>
                </a:solidFill>
              </a:defRPr>
            </a:pPr>
            <a:r>
              <a:rPr sz="1050" b="0">
                <a:solidFill>
                  <a:srgbClr val="6F6559"/>
                </a:solidFill>
              </a:rPr>
              <a:t>БочкарИИ / база знаний для сопровождения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E82AE-CD5F-41C2-803D-F2D95619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5A22"/>
                </a:solidFill>
              </a:defRPr>
            </a:pPr>
            <a:r>
              <a:rPr sz="1200" b="1">
                <a:solidFill>
                  <a:srgbClr val="7C5A22"/>
                </a:solidFill>
              </a:rPr>
              <a:t>03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148dddf9e408e"/>
          <a:stretch xmlns:a="http://schemas.openxmlformats.org/drawingml/2006/main"/>
        </p:blipFill>
        <p:spPr>
          <a:xfrm xmlns:a="http://schemas.openxmlformats.org/drawingml/2006/main">
            <a:off x="6334125" y="1490663"/>
            <a:ext cx="4953000" cy="3095625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84BBD-9FBB-4194-A051-50FC31D9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33A"/>
          </a:solidFill>
          <a:ln xmlns:a="http://schemas.openxmlformats.org/drawingml/2006/main" w="0">
            <a:solidFill>
              <a:srgbClr val="C493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38D13-8499-4EFA-B50B-157E7582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F1A"/>
                </a:solidFill>
              </a:defRPr>
            </a:pPr>
            <a:r>
              <a:rPr sz="1650" b="0">
                <a:solidFill>
                  <a:srgbClr val="241F1A"/>
                </a:solidFill>
              </a:rPr>
              <a:t>Коллега спрашивает обычным языком: про ошибку, процесс, инструкцию, 1С, WMS или интеграцию.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6901F-45FC-45E7-80A2-70686BE6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33A"/>
          </a:solidFill>
          <a:ln xmlns:a="http://schemas.openxmlformats.org/drawingml/2006/main" w="0">
            <a:solidFill>
              <a:srgbClr val="C493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4C667-ED19-47FA-9EF1-EAE80C47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F1A"/>
                </a:solidFill>
              </a:defRPr>
            </a:pPr>
            <a:r>
              <a:rPr sz="1650" b="0">
                <a:solidFill>
                  <a:srgbClr val="241F1A"/>
                </a:solidFill>
              </a:rPr>
              <a:t>Система ищет в локальной базе знаний и возвращает ответ с источниками и цитатами.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51571-4D98-4327-88D2-AB8CF85B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33A"/>
          </a:solidFill>
          <a:ln xmlns:a="http://schemas.openxmlformats.org/drawingml/2006/main" w="0">
            <a:solidFill>
              <a:srgbClr val="C493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5A797-DD80-4FDC-A149-5F64BCA0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F1A"/>
                </a:solidFill>
              </a:defRPr>
            </a:pPr>
            <a:r>
              <a:rPr sz="1650" b="0">
                <a:solidFill>
                  <a:srgbClr val="241F1A"/>
                </a:solidFill>
              </a:rPr>
              <a:t>История диалогов сохраняет контекст, а режим ответа помогает получить краткий вывод или пошаговую инструкцию.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249BE-7523-49DD-9EAB-CADA0E6F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3771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FE6D8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C5A22"/>
                </a:solidFill>
              </a:defRPr>
            </a:pPr>
            <a:r>
              <a:rPr sz="1275" b="1">
                <a:solidFill>
                  <a:srgbClr val="7C5A22"/>
                </a:solidFill>
              </a:rPr>
              <a:t>локально + управляемо + проверяемо</a:t>
            </a:r>
          </a:p>
        </p:txBody>
      </p:sp>
    </p:spTree>
    <p:extLst>
      <p:ext uri="{BB962C8B-B14F-4D97-AF65-F5344CB8AC3E}">
        <p14:creationId xmlns:p14="http://schemas.microsoft.com/office/powerpoint/2010/main" val="19125811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9911B7-7A8B-432D-AD91-35ED7725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1F1A"/>
                </a:solidFill>
              </a:defRPr>
            </a:pPr>
            <a:r>
              <a:rPr sz="2850" b="1">
                <a:solidFill>
                  <a:srgbClr val="241F1A"/>
                </a:solidFill>
              </a:rPr>
              <a:t>Живой ответ с доказательствами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F77A2-543F-458A-AD07-11CB184A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559"/>
                </a:solidFill>
              </a:defRPr>
            </a:pPr>
            <a:r>
              <a:rPr sz="1500" b="0">
                <a:solidFill>
                  <a:srgbClr val="6F6559"/>
                </a:solidFill>
              </a:rPr>
              <a:t>Видно, на какие документы опирается ответ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1AB85-3681-4159-A02A-C7852D20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9"/>
                </a:solidFill>
              </a:defRPr>
            </a:pPr>
            <a:r>
              <a:rPr sz="1050" b="0">
                <a:solidFill>
                  <a:srgbClr val="6F6559"/>
                </a:solidFill>
              </a:rPr>
              <a:t>БочкарИИ / база знаний для сопровождения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9FF51-C9B7-4063-8D73-9EBA470A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5A22"/>
                </a:solidFill>
              </a:defRPr>
            </a:pPr>
            <a:r>
              <a:rPr sz="1200" b="1">
                <a:solidFill>
                  <a:srgbClr val="7C5A22"/>
                </a:solidFill>
              </a:rPr>
              <a:t>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5ddd13cfd4938"/>
          <a:stretch xmlns:a="http://schemas.openxmlformats.org/drawingml/2006/main"/>
        </p:blipFill>
        <p:spPr>
          <a:xfrm xmlns:a="http://schemas.openxmlformats.org/drawingml/2006/main">
            <a:off x="676275" y="1524000"/>
            <a:ext cx="6553200" cy="4095750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99450-399A-4CA9-8ED1-0D35DC6D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C5A22"/>
                </a:solidFill>
              </a:defRPr>
            </a:pPr>
            <a:r>
              <a:rPr sz="2100" b="1">
                <a:solidFill>
                  <a:srgbClr val="7C5A22"/>
                </a:solidFill>
              </a:rPr>
              <a:t>Что важно для команды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81900-0275-4992-9B0B-3B8489A1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24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F58"/>
          </a:solidFill>
          <a:ln xmlns:a="http://schemas.openxmlformats.org/drawingml/2006/main" w="0">
            <a:solidFill>
              <a:srgbClr val="3F8F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10921-DD9F-4DFC-9E6A-75CA236D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247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F1A"/>
                </a:solidFill>
              </a:defRPr>
            </a:pPr>
            <a:r>
              <a:rPr sz="1650" b="0">
                <a:solidFill>
                  <a:srgbClr val="241F1A"/>
                </a:solidFill>
              </a:rPr>
              <a:t>источники видны рядом с ответом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A7C59-BF17-46AE-9021-C73A13E5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0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F58"/>
          </a:solidFill>
          <a:ln xmlns:a="http://schemas.openxmlformats.org/drawingml/2006/main" w="0">
            <a:solidFill>
              <a:srgbClr val="3F8F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AB59C-7699-4870-BFBA-F9E1D309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28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F1A"/>
                </a:solidFill>
              </a:defRPr>
            </a:pPr>
            <a:r>
              <a:rPr sz="1650" b="0">
                <a:solidFill>
                  <a:srgbClr val="241F1A"/>
                </a:solidFill>
              </a:rPr>
              <a:t>цитаты показывают, откуда взят вывод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A25DD-4F96-4E15-961A-89E0B9BA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86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F58"/>
          </a:solidFill>
          <a:ln xmlns:a="http://schemas.openxmlformats.org/drawingml/2006/main" w="0">
            <a:solidFill>
              <a:srgbClr val="3F8F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12285-886B-4601-9034-527BF15F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810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F1A"/>
                </a:solidFill>
              </a:defRPr>
            </a:pPr>
            <a:r>
              <a:rPr sz="1650" b="0">
                <a:solidFill>
                  <a:srgbClr val="241F1A"/>
                </a:solidFill>
              </a:rPr>
              <a:t>можно открыть связанный документ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B0ADF-EEC8-43FA-8E89-B55D6F3C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67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F58"/>
          </a:solidFill>
          <a:ln xmlns:a="http://schemas.openxmlformats.org/drawingml/2006/main" w="0">
            <a:solidFill>
              <a:srgbClr val="3F8F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1B3BE-6570-47D2-807E-A9FFA52A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591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F1A"/>
                </a:solidFill>
              </a:defRPr>
            </a:pPr>
            <a:r>
              <a:rPr sz="1650" b="0">
                <a:solidFill>
                  <a:srgbClr val="241F1A"/>
                </a:solidFill>
              </a:rPr>
              <a:t>есть оценка качества и отчёт о проблеме</a:t>
            </a:r>
          </a:p>
        </p:txBody>
      </p:sp>
    </p:spTree>
    <p:extLst>
      <p:ext uri="{BB962C8B-B14F-4D97-AF65-F5344CB8AC3E}">
        <p14:creationId xmlns:p14="http://schemas.microsoft.com/office/powerpoint/2010/main" val="12566846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5FABFB-3A23-4892-A611-8F2EA3FB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1F1A"/>
                </a:solidFill>
              </a:defRPr>
            </a:pPr>
            <a:r>
              <a:rPr sz="2850" b="1">
                <a:solidFill>
                  <a:srgbClr val="241F1A"/>
                </a:solidFill>
              </a:rPr>
              <a:t>История рабочих случаев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349FA-8435-4778-876C-08F73A42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559"/>
                </a:solidFill>
              </a:defRPr>
            </a:pPr>
            <a:r>
              <a:rPr sz="1500" b="0">
                <a:solidFill>
                  <a:srgbClr val="6F6559"/>
                </a:solidFill>
              </a:rPr>
              <a:t>Диалоги помогают вернуться к прошлому разбору, а не искать его заново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06AD5-B67F-433C-86F5-769F24AE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9"/>
                </a:solidFill>
              </a:defRPr>
            </a:pPr>
            <a:r>
              <a:rPr sz="1050" b="0">
                <a:solidFill>
                  <a:srgbClr val="6F6559"/>
                </a:solidFill>
              </a:rPr>
              <a:t>БочкарИИ / база знаний для сопровождения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2E437-CE75-436F-8B94-EAE15C9E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5A22"/>
                </a:solidFill>
              </a:defRPr>
            </a:pPr>
            <a:r>
              <a:rPr sz="1200" b="1">
                <a:solidFill>
                  <a:srgbClr val="7C5A22"/>
                </a:solidFill>
              </a:rPr>
              <a:t>05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afdf56ab3465d"/>
          <a:stretch xmlns:a="http://schemas.openxmlformats.org/drawingml/2006/main"/>
        </p:blipFill>
        <p:spPr>
          <a:xfrm xmlns:a="http://schemas.openxmlformats.org/drawingml/2006/main">
            <a:off x="6191250" y="1697236"/>
            <a:ext cx="5191125" cy="3244453"/>
          </a:xfrm>
          <a:prstGeom xmlns:a="http://schemas.openxmlformats.org/drawingml/2006/main" prst="roundRect">
            <a:avLst>
              <a:gd name="adj" fmla="val 197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E79D8-635B-47A5-98DF-51701BCF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1F1A"/>
                </a:solidFill>
              </a:defRPr>
            </a:pPr>
            <a:r>
              <a:rPr sz="2250" b="1">
                <a:solidFill>
                  <a:srgbClr val="241F1A"/>
                </a:solidFill>
              </a:rPr>
              <a:t>Как это помогает сопровождению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ACDCF-16E7-4700-A256-F462E42B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33A"/>
          </a:solidFill>
          <a:ln xmlns:a="http://schemas.openxmlformats.org/drawingml/2006/main" w="0">
            <a:solidFill>
              <a:srgbClr val="C493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828E2-F9AF-48B7-A58F-45AC8363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F1A"/>
                </a:solidFill>
              </a:defRPr>
            </a:pPr>
            <a:r>
              <a:rPr sz="1650" b="0">
                <a:solidFill>
                  <a:srgbClr val="241F1A"/>
                </a:solidFill>
              </a:rPr>
              <a:t>найти прошлый разбор ошибки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5C143-02E2-453E-A45F-485DF9AD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33A"/>
          </a:solidFill>
          <a:ln xmlns:a="http://schemas.openxmlformats.org/drawingml/2006/main" w="0">
            <a:solidFill>
              <a:srgbClr val="C493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CFD8B-F5DC-4924-82F4-82DB557B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F1A"/>
                </a:solidFill>
              </a:defRPr>
            </a:pPr>
            <a:r>
              <a:rPr sz="1650" b="0">
                <a:solidFill>
                  <a:srgbClr val="241F1A"/>
                </a:solidFill>
              </a:rPr>
              <a:t>переименовать кейс по теме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A0A7A-51E5-48A6-BA62-20A8AF03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33A"/>
          </a:solidFill>
          <a:ln xmlns:a="http://schemas.openxmlformats.org/drawingml/2006/main" w="0">
            <a:solidFill>
              <a:srgbClr val="C493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0E2D7-9096-437A-8435-29BAC111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F1A"/>
                </a:solidFill>
              </a:defRPr>
            </a:pPr>
            <a:r>
              <a:rPr sz="1650" b="0">
                <a:solidFill>
                  <a:srgbClr val="241F1A"/>
                </a:solidFill>
              </a:rPr>
              <a:t>вернуться к источникам решения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77691-0219-4506-BD75-6AE00CC4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33A"/>
          </a:solidFill>
          <a:ln xmlns:a="http://schemas.openxmlformats.org/drawingml/2006/main" w="0">
            <a:solidFill>
              <a:srgbClr val="C493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88813-9E45-4C57-9998-18FAE129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F1A"/>
                </a:solidFill>
              </a:defRPr>
            </a:pPr>
            <a:r>
              <a:rPr sz="1650" b="0">
                <a:solidFill>
                  <a:srgbClr val="241F1A"/>
                </a:solidFill>
              </a:rPr>
              <a:t>экспортировать диалог для коллег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FF229-9992-4A61-A841-569DBEA5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33A"/>
          </a:solidFill>
          <a:ln xmlns:a="http://schemas.openxmlformats.org/drawingml/2006/main" w="0">
            <a:solidFill>
              <a:srgbClr val="C493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A099CF-8670-44E1-B3F9-7A3EB799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F1A"/>
                </a:solidFill>
              </a:defRPr>
            </a:pPr>
            <a:r>
              <a:rPr sz="1650" b="0">
                <a:solidFill>
                  <a:srgbClr val="241F1A"/>
                </a:solidFill>
              </a:rPr>
              <a:t>вести несколько расследований параллельно</a:t>
            </a:r>
          </a:p>
        </p:txBody>
      </p:sp>
    </p:spTree>
    <p:extLst>
      <p:ext uri="{BB962C8B-B14F-4D97-AF65-F5344CB8AC3E}">
        <p14:creationId xmlns:p14="http://schemas.microsoft.com/office/powerpoint/2010/main" val="20985493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951656-DCCE-4D07-B980-63735CFF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1F1A"/>
                </a:solidFill>
              </a:defRPr>
            </a:pPr>
            <a:r>
              <a:rPr sz="2850" b="1">
                <a:solidFill>
                  <a:srgbClr val="241F1A"/>
                </a:solidFill>
              </a:rPr>
              <a:t>Администрирование базы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8DF4E-A3F8-4D71-BD00-719C6F1C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559"/>
                </a:solidFill>
              </a:defRPr>
            </a:pPr>
            <a:r>
              <a:rPr sz="1500" b="0">
                <a:solidFill>
                  <a:srgbClr val="6F6559"/>
                </a:solidFill>
              </a:rPr>
              <a:t>Загрузка документов и переиндексация без ручного обхода файлов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F5885-1BC1-45D0-A356-1ADFC29F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9"/>
                </a:solidFill>
              </a:defRPr>
            </a:pPr>
            <a:r>
              <a:rPr sz="1050" b="0">
                <a:solidFill>
                  <a:srgbClr val="6F6559"/>
                </a:solidFill>
              </a:rPr>
              <a:t>БочкарИИ / база знаний для сопровождения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AA22B-9C85-4AFD-AC91-21DFFAC7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5A22"/>
                </a:solidFill>
              </a:defRPr>
            </a:pPr>
            <a:r>
              <a:rPr sz="1200" b="1">
                <a:solidFill>
                  <a:srgbClr val="7C5A22"/>
                </a:solidFill>
              </a:rPr>
              <a:t>06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192ac60b54da8"/>
          <a:stretch xmlns:a="http://schemas.openxmlformats.org/drawingml/2006/main"/>
        </p:blipFill>
        <p:spPr>
          <a:xfrm xmlns:a="http://schemas.openxmlformats.org/drawingml/2006/main">
            <a:off x="752475" y="1428750"/>
            <a:ext cx="6400800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8B199-C4F3-4080-B743-157A426B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52600"/>
            <a:ext cx="30480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FF799-0687-4BAC-99F5-EEA0C71A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38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C5A22"/>
                </a:solidFill>
              </a:defRPr>
            </a:pPr>
            <a:r>
              <a:rPr sz="2100" b="1">
                <a:solidFill>
                  <a:srgbClr val="7C5A22"/>
                </a:solidFill>
              </a:rPr>
              <a:t>Цикл обновления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9E2CF-D78B-4861-A9FE-6FAAF397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28900"/>
            <a:ext cx="233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1F1A"/>
                </a:solidFill>
              </a:defRPr>
            </a:pPr>
            <a:r>
              <a:rPr sz="1650" b="0">
                <a:solidFill>
                  <a:srgbClr val="241F1A"/>
                </a:solidFill>
              </a:rPr>
              <a:t>1. загрузить документ</a:t>
            </a:r>
          </a:p>
          <a:p xmlns:a="http://schemas.openxmlformats.org/drawingml/2006/main">
            <a:pPr algn="l">
              <a:defRPr sz="1650" b="0">
                <a:solidFill>
                  <a:srgbClr val="241F1A"/>
                </a:solidFill>
              </a:defRPr>
            </a:pPr>
            <a:r>
              <a:rPr sz="1650" b="0">
                <a:solidFill>
                  <a:srgbClr val="241F1A"/>
                </a:solidFill>
              </a:rPr>
              <a:t>2. посмотреть предпросмотр</a:t>
            </a:r>
          </a:p>
          <a:p xmlns:a="http://schemas.openxmlformats.org/drawingml/2006/main">
            <a:pPr algn="l">
              <a:defRPr sz="1650" b="0">
                <a:solidFill>
                  <a:srgbClr val="241F1A"/>
                </a:solidFill>
              </a:defRPr>
            </a:pPr>
            <a:r>
              <a:rPr sz="1650" b="0">
                <a:solidFill>
                  <a:srgbClr val="241F1A"/>
                </a:solidFill>
              </a:rPr>
              <a:t>3. запустить переиндексацию</a:t>
            </a:r>
          </a:p>
          <a:p xmlns:a="http://schemas.openxmlformats.org/drawingml/2006/main">
            <a:pPr algn="l">
              <a:defRPr sz="1650" b="0">
                <a:solidFill>
                  <a:srgbClr val="241F1A"/>
                </a:solidFill>
              </a:defRPr>
            </a:pPr>
            <a:r>
              <a:rPr sz="1650" b="0">
                <a:solidFill>
                  <a:srgbClr val="241F1A"/>
                </a:solidFill>
              </a:rPr>
              <a:t>4. проверить контрольные вопросы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372E0-6FE0-447F-A5EC-23D7A644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19600"/>
            <a:ext cx="1695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FE6D8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C5A22"/>
                </a:solidFill>
              </a:defRPr>
            </a:pPr>
            <a:r>
              <a:rPr sz="1275" b="1">
                <a:solidFill>
                  <a:srgbClr val="7C5A22"/>
                </a:solidFill>
              </a:rPr>
              <a:t>всё внутри UI</a:t>
            </a:r>
          </a:p>
        </p:txBody>
      </p:sp>
    </p:spTree>
    <p:extLst>
      <p:ext uri="{BB962C8B-B14F-4D97-AF65-F5344CB8AC3E}">
        <p14:creationId xmlns:p14="http://schemas.microsoft.com/office/powerpoint/2010/main" val="17919221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A9F980-CBD7-4734-BB54-284D8E91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1F1A"/>
                </a:solidFill>
              </a:defRPr>
            </a:pPr>
            <a:r>
              <a:rPr sz="2850" b="1">
                <a:solidFill>
                  <a:srgbClr val="241F1A"/>
                </a:solidFill>
              </a:rPr>
              <a:t>Контроль качества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6B77C-4D83-43E8-945C-8F007D11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559"/>
                </a:solidFill>
              </a:defRPr>
            </a:pPr>
            <a:r>
              <a:rPr sz="1500" b="0">
                <a:solidFill>
                  <a:srgbClr val="6F6559"/>
                </a:solidFill>
              </a:rPr>
              <a:t>Админка показывает, что нужно поправить в базе знаний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14DF7-1B5C-4A96-A571-6143E923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9"/>
                </a:solidFill>
              </a:defRPr>
            </a:pPr>
            <a:r>
              <a:rPr sz="1050" b="0">
                <a:solidFill>
                  <a:srgbClr val="6F6559"/>
                </a:solidFill>
              </a:rPr>
              <a:t>БочкарИИ / база знаний для сопровождения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9E4F3-B7C3-4BEC-960C-E081C8AB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5A22"/>
                </a:solidFill>
              </a:defRPr>
            </a:pPr>
            <a:r>
              <a:rPr sz="1200" b="1">
                <a:solidFill>
                  <a:srgbClr val="7C5A22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8695A-4307-4308-866A-73594210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4686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8412C-4E90-4F98-8727-A86CAEF4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05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F58"/>
          </a:solidFill>
          <a:ln xmlns:a="http://schemas.openxmlformats.org/drawingml/2006/main" w="0">
            <a:solidFill>
              <a:srgbClr val="3F8F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6E594-A5E5-436F-BF96-B3F33A0A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1F1A"/>
                </a:solidFill>
              </a:defRPr>
            </a:pPr>
            <a:r>
              <a:rPr sz="1875" b="1">
                <a:solidFill>
                  <a:srgbClr val="241F1A"/>
                </a:solidFill>
              </a:rPr>
              <a:t>Модель и база поиска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3874F-F498-461B-9831-C6D18600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003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559"/>
                </a:solidFill>
              </a:defRPr>
            </a:pPr>
            <a:r>
              <a:rPr sz="1350" b="0">
                <a:solidFill>
                  <a:srgbClr val="6F6559"/>
                </a:solidFill>
              </a:rPr>
              <a:t>видно, жива ли инфраструктура поиска и генерации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A6903-D515-4FF1-91D7-EA77A064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09750"/>
            <a:ext cx="4686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5A347-00CF-4F6D-91E0-5E6379F2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05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A3D"/>
          </a:solidFill>
          <a:ln xmlns:a="http://schemas.openxmlformats.org/drawingml/2006/main" w="0">
            <a:solidFill>
              <a:srgbClr val="B84A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99169-E832-4F79-B7A6-5338509F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19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1F1A"/>
                </a:solidFill>
              </a:defRPr>
            </a:pPr>
            <a:r>
              <a:rPr sz="1875" b="1">
                <a:solidFill>
                  <a:srgbClr val="241F1A"/>
                </a:solidFill>
              </a:rPr>
              <a:t>Неудачные ответы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81577-834B-44E5-AEDA-BC7062B2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003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559"/>
                </a:solidFill>
              </a:defRPr>
            </a:pPr>
            <a:r>
              <a:rPr sz="1350" b="0">
                <a:solidFill>
                  <a:srgbClr val="6F6559"/>
                </a:solidFill>
              </a:rPr>
              <a:t>последние темы, где пользователь не получил рабочий результат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C9609-0B16-4C90-88EC-8B6E6C96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81375"/>
            <a:ext cx="4686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74891-FB55-43A1-AAC2-ECC6BDDA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33A"/>
          </a:solidFill>
          <a:ln xmlns:a="http://schemas.openxmlformats.org/drawingml/2006/main" w="0">
            <a:solidFill>
              <a:srgbClr val="C493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F454C-69DE-4F9C-899E-5899FF51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909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1F1A"/>
                </a:solidFill>
              </a:defRPr>
            </a:pPr>
            <a:r>
              <a:rPr sz="1875" b="1">
                <a:solidFill>
                  <a:srgbClr val="241F1A"/>
                </a:solidFill>
              </a:rPr>
              <a:t>Пробелы знаний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DE87F-6B74-4347-B048-F5EC835E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719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559"/>
                </a:solidFill>
              </a:defRPr>
            </a:pPr>
            <a:r>
              <a:rPr sz="1350" b="0">
                <a:solidFill>
                  <a:srgbClr val="6F6559"/>
                </a:solidFill>
              </a:rPr>
              <a:t>повторяющиеся вопросы без уверенного ответа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94E72-4234-4A80-8F51-39C81A70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81375"/>
            <a:ext cx="4686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2CD36-AF0E-437D-9566-9CE75B1D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22"/>
          </a:solidFill>
          <a:ln xmlns:a="http://schemas.openxmlformats.org/drawingml/2006/main" w="0">
            <a:solidFill>
              <a:srgbClr val="7C5A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80B59-7320-4F44-8AF1-25F73960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909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1F1A"/>
                </a:solidFill>
              </a:defRPr>
            </a:pPr>
            <a:r>
              <a:rPr sz="1875" b="1">
                <a:solidFill>
                  <a:srgbClr val="241F1A"/>
                </a:solidFill>
              </a:rPr>
              <a:t>Настройки поиска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85251-EDCC-4CB0-9BB8-0E599A4D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719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559"/>
                </a:solidFill>
              </a:defRPr>
            </a:pPr>
            <a:r>
              <a:rPr sz="1350" b="0">
                <a:solidFill>
                  <a:srgbClr val="6F6559"/>
                </a:solidFill>
              </a:rPr>
              <a:t>top-k, пороги релевантности и режимы без правки кода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3A2037-8CD1-4362-A0B4-E7924493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24450"/>
            <a:ext cx="619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FE6D8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C5A22"/>
                </a:solidFill>
              </a:defRPr>
            </a:pPr>
            <a:r>
              <a:rPr sz="1275" b="1">
                <a:solidFill>
                  <a:srgbClr val="7C5A22"/>
                </a:solidFill>
              </a:rPr>
              <a:t>обратная связь превращается в задачу на улучшение документации</a:t>
            </a:r>
          </a:p>
        </p:txBody>
      </p:sp>
    </p:spTree>
    <p:extLst>
      <p:ext uri="{BB962C8B-B14F-4D97-AF65-F5344CB8AC3E}">
        <p14:creationId xmlns:p14="http://schemas.microsoft.com/office/powerpoint/2010/main" val="8610583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BDA3D3-4F52-4CC8-9D6A-5A6FB7DA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1F1A"/>
                </a:solidFill>
              </a:defRPr>
            </a:pPr>
            <a:r>
              <a:rPr sz="2850" b="1">
                <a:solidFill>
                  <a:srgbClr val="241F1A"/>
                </a:solidFill>
              </a:rPr>
              <a:t>Почему это интересно именно нам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02187-2513-4592-B676-B9E56982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559"/>
                </a:solidFill>
              </a:defRPr>
            </a:pPr>
            <a:r>
              <a:rPr sz="1500" b="0">
                <a:solidFill>
                  <a:srgbClr val="6F6559"/>
                </a:solidFill>
              </a:rPr>
              <a:t>Ценность не в модном ИИ, а в скорости работы команды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BE8A3-F4AD-4035-9C27-191BFBCF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9"/>
                </a:solidFill>
              </a:defRPr>
            </a:pPr>
            <a:r>
              <a:rPr sz="1050" b="0">
                <a:solidFill>
                  <a:srgbClr val="6F6559"/>
                </a:solidFill>
              </a:rPr>
              <a:t>БочкарИИ / база знаний для сопровождения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18289-2656-4030-899D-39D99343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5A22"/>
                </a:solidFill>
              </a:defRPr>
            </a:pPr>
            <a:r>
              <a:rPr sz="1200" b="1">
                <a:solidFill>
                  <a:srgbClr val="7C5A2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F9D26-A87C-42E3-8030-CCDB82D1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2343150" cy="26670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C087F-A3DA-4B5A-BE74-E7EB9437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4A3D"/>
                </a:solidFill>
              </a:defRPr>
            </a:pPr>
            <a:r>
              <a:rPr sz="2550" b="1">
                <a:solidFill>
                  <a:srgbClr val="B84A3D"/>
                </a:solidFill>
              </a:rPr>
              <a:t>меньше времени на поиск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A2927-E787-44A9-A11A-887FA937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180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559"/>
                </a:solidFill>
              </a:defRPr>
            </a:pPr>
            <a:r>
              <a:rPr sz="1500" b="0">
                <a:solidFill>
                  <a:srgbClr val="6F6559"/>
                </a:solidFill>
              </a:rPr>
              <a:t>быстрее найти инструкцию, источник и соседний контекст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CC384-CAAB-4364-AA6E-C1529E9B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47850"/>
            <a:ext cx="2343150" cy="26670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653D6-FFF3-4175-A5B0-34742774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907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4A3D"/>
                </a:solidFill>
              </a:defRPr>
            </a:pPr>
            <a:r>
              <a:rPr sz="2550" b="1">
                <a:solidFill>
                  <a:srgbClr val="B84A3D"/>
                </a:solidFill>
              </a:rPr>
              <a:t>меньше нагрузки на экспертов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674F9-592C-473A-9D75-B2F5B9D4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05150"/>
            <a:ext cx="180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559"/>
                </a:solidFill>
              </a:defRPr>
            </a:pPr>
            <a:r>
              <a:rPr sz="1500" b="0">
                <a:solidFill>
                  <a:srgbClr val="6F6559"/>
                </a:solidFill>
              </a:rPr>
              <a:t>типовые ответы уходят в самообслуживание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E3546-85F3-4B40-9D2B-4617F939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47850"/>
            <a:ext cx="2343150" cy="26670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6B6F3-74F7-406D-97E9-FA62089B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F8F58"/>
                </a:solidFill>
              </a:defRPr>
            </a:pPr>
            <a:r>
              <a:rPr sz="2550" b="1">
                <a:solidFill>
                  <a:srgbClr val="3F8F58"/>
                </a:solidFill>
              </a:rPr>
              <a:t>+ единый стандарт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61D37-ADEA-4E6A-A972-E3A3F0B3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05150"/>
            <a:ext cx="180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559"/>
                </a:solidFill>
              </a:defRPr>
            </a:pPr>
            <a:r>
              <a:rPr sz="1500" b="0">
                <a:solidFill>
                  <a:srgbClr val="6F6559"/>
                </a:solidFill>
              </a:rPr>
              <a:t>ответы с цитатами вместо пересказов из памяти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4AFD5-8278-46E3-857A-F6915EDC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2343150" cy="26670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F6C27-B61C-43BE-9A52-A31428D5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907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F8F58"/>
                </a:solidFill>
              </a:defRPr>
            </a:pPr>
            <a:r>
              <a:rPr sz="2550" b="1">
                <a:solidFill>
                  <a:srgbClr val="3F8F58"/>
                </a:solidFill>
              </a:rPr>
              <a:t>+ обучение новичков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FED8C1-DEA7-472C-A424-3CC3D406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05150"/>
            <a:ext cx="180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559"/>
                </a:solidFill>
              </a:defRPr>
            </a:pPr>
            <a:r>
              <a:rPr sz="1500" b="0">
                <a:solidFill>
                  <a:srgbClr val="6F6559"/>
                </a:solidFill>
              </a:rPr>
              <a:t>история кейсов превращается в практическую базу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27A3A-B954-407A-9C97-BF19AFBC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863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C5A22"/>
                </a:solidFill>
              </a:defRPr>
            </a:pPr>
            <a:r>
              <a:rPr sz="1950" b="1">
                <a:solidFill>
                  <a:srgbClr val="7C5A22"/>
                </a:solidFill>
              </a:rPr>
              <a:t>Главное: команда получает проверяемый ответ в момент работы, а не после поиска по пяти источникам.</a:t>
            </a:r>
          </a:p>
        </p:txBody>
      </p:sp>
    </p:spTree>
    <p:extLst>
      <p:ext uri="{BB962C8B-B14F-4D97-AF65-F5344CB8AC3E}">
        <p14:creationId xmlns:p14="http://schemas.microsoft.com/office/powerpoint/2010/main" val="12139205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E21222-75C0-4CE1-8ACD-945F9239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1F1A"/>
                </a:solidFill>
              </a:defRPr>
            </a:pPr>
            <a:r>
              <a:rPr sz="2850" b="1">
                <a:solidFill>
                  <a:srgbClr val="241F1A"/>
                </a:solidFill>
              </a:rPr>
              <a:t>Пробный запуск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27BCE-FC54-4D12-9E86-B8A75CAE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559"/>
                </a:solidFill>
              </a:defRPr>
            </a:pPr>
            <a:r>
              <a:rPr sz="1500" b="0">
                <a:solidFill>
                  <a:srgbClr val="6F6559"/>
                </a:solidFill>
              </a:rPr>
              <a:t>Начинаем с малого набора частых вопросов и быстро проверяем пользу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BB1B1-A4D2-4C46-97F1-462A9BF7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9"/>
                </a:solidFill>
              </a:defRPr>
            </a:pPr>
            <a:r>
              <a:rPr sz="1050" b="0">
                <a:solidFill>
                  <a:srgbClr val="6F6559"/>
                </a:solidFill>
              </a:rPr>
              <a:t>БочкарИИ / база знаний для сопровождения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DC27B-AE97-4F71-A719-685E4052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5A22"/>
                </a:solidFill>
              </a:defRPr>
            </a:pPr>
            <a:r>
              <a:rPr sz="1200" b="1">
                <a:solidFill>
                  <a:srgbClr val="7C5A22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55987-5917-447D-BD12-E7AC261F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28003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96059-916B-42A3-9BF9-4D87FE4C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00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C5A22"/>
                </a:solidFill>
              </a:defRPr>
            </a:pPr>
            <a:r>
              <a:rPr sz="2400" b="1">
                <a:solidFill>
                  <a:srgbClr val="7C5A22"/>
                </a:solidFill>
              </a:rPr>
              <a:t>1 неделя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7673B-04BD-4037-98DB-72C0D3FC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559"/>
                </a:solidFill>
              </a:defRPr>
            </a:pPr>
            <a:r>
              <a:rPr sz="1650" b="0">
                <a:solidFill>
                  <a:srgbClr val="6F6559"/>
                </a:solidFill>
              </a:rPr>
              <a:t>выбрать 30–50 частых кейсов и документы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A8449-B5EF-423F-B1E1-9750DBC6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4933A"/>
                </a:solidFill>
              </a:defRPr>
            </a:pPr>
            <a:r>
              <a:rPr sz="2850" b="1">
                <a:solidFill>
                  <a:srgbClr val="C4933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ECC6D-7198-4818-96C7-BB041704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28003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BC03D-EB86-40F7-99C7-61D892C4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00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C5A22"/>
                </a:solidFill>
              </a:defRPr>
            </a:pPr>
            <a:r>
              <a:rPr sz="2400" b="1">
                <a:solidFill>
                  <a:srgbClr val="7C5A22"/>
                </a:solidFill>
              </a:rPr>
              <a:t>2 неделя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7B285-2024-40C8-84D7-71709658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559"/>
                </a:solidFill>
              </a:defRPr>
            </a:pPr>
            <a:r>
              <a:rPr sz="1650" b="0">
                <a:solidFill>
                  <a:srgbClr val="6F6559"/>
                </a:solidFill>
              </a:rPr>
              <a:t>индексация, тестовые вопросы, доступ группе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CF443-8A15-4147-890A-3B65D643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4933A"/>
                </a:solidFill>
              </a:defRPr>
            </a:pPr>
            <a:r>
              <a:rPr sz="2850" b="1">
                <a:solidFill>
                  <a:srgbClr val="C4933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BEA98-84A0-4D99-B57F-1CA9E5A7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76450"/>
            <a:ext cx="28003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E9486-29F4-4FC6-979A-572E7D14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C5A22"/>
                </a:solidFill>
              </a:defRPr>
            </a:pPr>
            <a:r>
              <a:rPr sz="2400" b="1">
                <a:solidFill>
                  <a:srgbClr val="7C5A22"/>
                </a:solidFill>
              </a:rPr>
              <a:t>3–4 неделя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4EFDF-881E-4E29-B9E6-2AAE1C71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559"/>
                </a:solidFill>
              </a:defRPr>
            </a:pPr>
            <a:r>
              <a:rPr sz="1650" b="0">
                <a:solidFill>
                  <a:srgbClr val="6F6559"/>
                </a:solidFill>
              </a:rPr>
              <a:t>feedback, пробелы, правила обновления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6B1D9-76C1-4C89-B3F0-7886403D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14900"/>
            <a:ext cx="7772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FE6D8"/>
          </a:solidFill>
          <a:ln xmlns:a="http://schemas.openxmlformats.org/drawingml/2006/main" w="9525">
            <a:solidFill>
              <a:srgbClr val="D8CB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C5A22"/>
                </a:solidFill>
              </a:defRPr>
            </a:pPr>
            <a:r>
              <a:rPr sz="1275" b="1">
                <a:solidFill>
                  <a:srgbClr val="7C5A22"/>
                </a:solidFill>
              </a:rPr>
              <a:t>критерий успеха: меньше повторных вопросов и быстрее разбор типовых ошибок</a:t>
            </a:r>
          </a:p>
        </p:txBody>
      </p:sp>
    </p:spTree>
    <p:extLst>
      <p:ext uri="{BB962C8B-B14F-4D97-AF65-F5344CB8AC3E}">
        <p14:creationId xmlns:p14="http://schemas.microsoft.com/office/powerpoint/2010/main" val="2104762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F1AD0B-A795-47A8-AA82-2BA96AA6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DF8"/>
                </a:solidFill>
              </a:defRPr>
            </a:pPr>
            <a:r>
              <a:rPr sz="3150" b="1">
                <a:solidFill>
                  <a:srgbClr val="FFFDF8"/>
                </a:solidFill>
              </a:rPr>
              <a:t>Что предлагаем решить на встрече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88698-8A37-4603-973D-93E2605F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C979"/>
          </a:solidFill>
          <a:ln xmlns:a="http://schemas.openxmlformats.org/drawingml/2006/main" w="0">
            <a:solidFill>
              <a:srgbClr val="F0C9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507F1-F6B4-4BE7-A675-F3586198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097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EADB"/>
                </a:solidFill>
              </a:defRPr>
            </a:pPr>
            <a:r>
              <a:rPr sz="1650" b="0">
                <a:solidFill>
                  <a:srgbClr val="F4EADB"/>
                </a:solidFill>
              </a:rPr>
              <a:t>выбрать ответственного за пробный запуск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7EA96-55F5-4752-ADB2-128FD989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C979"/>
          </a:solidFill>
          <a:ln xmlns:a="http://schemas.openxmlformats.org/drawingml/2006/main" w="0">
            <a:solidFill>
              <a:srgbClr val="F0C9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47E6D-CEF0-4EF0-BD50-7A2A317E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EADB"/>
                </a:solidFill>
              </a:defRPr>
            </a:pPr>
            <a:r>
              <a:rPr sz="1650" b="0">
                <a:solidFill>
                  <a:srgbClr val="F4EADB"/>
                </a:solidFill>
              </a:rPr>
              <a:t>утвердить список первых тем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A2C39-34B9-46DB-BD3B-DC44A614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C979"/>
          </a:solidFill>
          <a:ln xmlns:a="http://schemas.openxmlformats.org/drawingml/2006/main" w="0">
            <a:solidFill>
              <a:srgbClr val="F0C97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C94A6-5E57-4449-A4B6-786758AD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575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EADB"/>
                </a:solidFill>
              </a:defRPr>
            </a:pPr>
            <a:r>
              <a:rPr sz="1650" b="0">
                <a:solidFill>
                  <a:srgbClr val="F4EADB"/>
                </a:solidFill>
              </a:rPr>
              <a:t>дать доступ 5–7 коллегам из сопровождения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87BB6-C615-476E-8309-C9D87A37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C979"/>
          </a:solidFill>
          <a:ln xmlns:a="http://schemas.openxmlformats.org/drawingml/2006/main" w="0">
            <a:solidFill>
              <a:srgbClr val="F0C9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2D689-4178-4373-AE59-4E19F10A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814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EADB"/>
                </a:solidFill>
              </a:defRPr>
            </a:pPr>
            <a:r>
              <a:rPr sz="1650" b="0">
                <a:solidFill>
                  <a:srgbClr val="F4EADB"/>
                </a:solidFill>
              </a:rPr>
              <a:t>договориться, что измеряем: время поиска, повторные вопросы, оценки ответов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F27EE-49CE-465C-9FF4-8CCD272F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EADB"/>
                </a:solidFill>
              </a:defRPr>
            </a:pPr>
            <a:r>
              <a:rPr sz="2100" b="1">
                <a:solidFill>
                  <a:srgbClr val="F4EADB"/>
                </a:solidFill>
              </a:rPr>
              <a:t>БочкарИИ уже работает локально: следующий шаг — проверить пользу на реальных кейсах команды.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E8DA3-653E-4770-8931-A5B05F1F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9"/>
                </a:solidFill>
              </a:defRPr>
            </a:pPr>
            <a:r>
              <a:rPr sz="1050" b="0">
                <a:solidFill>
                  <a:srgbClr val="6F6559"/>
                </a:solidFill>
              </a:rPr>
              <a:t>БочкарИИ / база знаний для сопровождения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2021D-C868-4E1C-911A-13A8908E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5A22"/>
                </a:solidFill>
              </a:defRPr>
            </a:pPr>
            <a:r>
              <a:rPr sz="1200" b="1">
                <a:solidFill>
                  <a:srgbClr val="7C5A2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524397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2026-06-23T18:58:23.3960000Z</dcterms:created>
  <dcterms:modified xsi:type="dcterms:W3CDTF">2026-06-23T18:58:23.3960000Z</dcterms:modified>
</coreProperties>
</file>