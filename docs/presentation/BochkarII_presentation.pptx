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3EDF9-0338-4013-BFA3-FD0A0D0B01F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4D461-D61F-49C4-9D44-A7B20B61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87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4D461-D61F-49C4-9D44-A7B20B61CD3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35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66641" y="1828800"/>
            <a:ext cx="224535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dirty="0" err="1">
                <a:solidFill>
                  <a:srgbClr val="7C5A22"/>
                </a:solidFill>
                <a:latin typeface="Calibri"/>
              </a:rPr>
              <a:t>Бочкар</a:t>
            </a:r>
            <a:r>
              <a:rPr lang="ru-RU" sz="4400" b="1" dirty="0">
                <a:solidFill>
                  <a:srgbClr val="7C5A22"/>
                </a:solidFill>
                <a:latin typeface="Calibri"/>
              </a:rPr>
              <a:t>и</a:t>
            </a:r>
            <a:endParaRPr sz="4400" b="1" dirty="0">
              <a:solidFill>
                <a:srgbClr val="7C5A22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5211D"/>
                </a:solidFill>
                <a:latin typeface="Calibri"/>
              </a:rPr>
              <a:t>AI-ассистент по корпоративной базе знаний.
Один чат вместо десятка вкладок wiki.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dirty="0" err="1">
                <a:solidFill>
                  <a:srgbClr val="5E554A"/>
                </a:solidFill>
                <a:latin typeface="Calibri"/>
              </a:rPr>
              <a:t>Демо</a:t>
            </a:r>
            <a:r>
              <a:rPr sz="14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E554A"/>
                </a:solidFill>
                <a:latin typeface="Calibri"/>
              </a:rPr>
              <a:t>для</a:t>
            </a:r>
            <a:r>
              <a:rPr sz="14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E554A"/>
                </a:solidFill>
                <a:latin typeface="Calibri"/>
              </a:rPr>
              <a:t>команды</a:t>
            </a:r>
            <a:r>
              <a:rPr sz="1400" b="0" dirty="0">
                <a:solidFill>
                  <a:srgbClr val="5E554A"/>
                </a:solidFill>
                <a:latin typeface="Calibri"/>
              </a:rPr>
              <a:t>  ·  </a:t>
            </a:r>
            <a:r>
              <a:rPr sz="1400" b="0" dirty="0" err="1">
                <a:solidFill>
                  <a:srgbClr val="5E554A"/>
                </a:solidFill>
                <a:latin typeface="Calibri"/>
              </a:rPr>
              <a:t>Май</a:t>
            </a:r>
            <a:r>
              <a:rPr sz="1400" b="0" dirty="0">
                <a:solidFill>
                  <a:srgbClr val="5E554A"/>
                </a:solidFill>
                <a:latin typeface="Calibri"/>
              </a:rPr>
              <a:t> 2026  ·  </a:t>
            </a:r>
            <a:r>
              <a:rPr sz="1400" b="0" dirty="0" err="1">
                <a:solidFill>
                  <a:srgbClr val="5E554A"/>
                </a:solidFill>
                <a:latin typeface="Calibri"/>
              </a:rPr>
              <a:t>Локальное</a:t>
            </a:r>
            <a:r>
              <a:rPr sz="14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E554A"/>
                </a:solidFill>
                <a:latin typeface="Calibri"/>
              </a:rPr>
              <a:t>развёртывание</a:t>
            </a:r>
            <a:endParaRPr sz="1400" b="0" dirty="0">
              <a:solidFill>
                <a:srgbClr val="5E55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1298448" cy="365760"/>
          </a:xfrm>
          <a:prstGeom prst="roundRect">
            <a:avLst>
              <a:gd name="adj" fmla="val 35000"/>
            </a:avLst>
          </a:prstGeom>
          <a:solidFill>
            <a:srgbClr val="EDE6DA"/>
          </a:solidFill>
          <a:ln w="9525">
            <a:solidFill>
              <a:srgbClr val="C9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000" b="1">
                <a:solidFill>
                  <a:srgbClr val="7C5A22"/>
                </a:solidFill>
                <a:latin typeface="Calibri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5211D"/>
                </a:solidFill>
                <a:latin typeface="Calibri"/>
              </a:rPr>
              <a:t>Знание есть — найти трудно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5211D"/>
                </a:solidFill>
                <a:latin typeface="Calibri"/>
              </a:rPr>
              <a:t>Регламенты в XWiki, инструкции в DOCX, FAQ в чатах, скрипты в общих папках. Сотрудник тратит время на поиск ответа, который у нас уже задокументирован.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8892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64592" rIns="128016" bIns="164592" rtlCol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5D4218"/>
                </a:solidFill>
                <a:latin typeface="Calibri"/>
              </a:rPr>
              <a:t>5+</a:t>
            </a:r>
          </a:p>
          <a:p>
            <a:pPr algn="ctr"/>
            <a:r>
              <a:rPr sz="1100" b="0">
                <a:solidFill>
                  <a:srgbClr val="5E554A"/>
                </a:solidFill>
                <a:latin typeface="Calibri"/>
              </a:rPr>
              <a:t>источников документации
(wiki, диск, почта, чаты)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78892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64592" rIns="128016" bIns="164592" rtlCol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5D4218"/>
                </a:solidFill>
                <a:latin typeface="Calibri"/>
              </a:rPr>
              <a:t>15–30 мин</a:t>
            </a:r>
          </a:p>
          <a:p>
            <a:pPr algn="ctr"/>
            <a:r>
              <a:rPr sz="1100" b="0">
                <a:solidFill>
                  <a:srgbClr val="5E554A"/>
                </a:solidFill>
                <a:latin typeface="Calibri"/>
              </a:rPr>
              <a:t>в среднем на поиск ответа
по типовому вопросу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78892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64592" rIns="128016" bIns="164592" rtlCol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5D4218"/>
                </a:solidFill>
                <a:latin typeface="Calibri"/>
              </a:rPr>
              <a:t>∞</a:t>
            </a:r>
          </a:p>
          <a:p>
            <a:pPr algn="ctr"/>
            <a:r>
              <a:rPr sz="1100" b="0">
                <a:solidFill>
                  <a:srgbClr val="5E554A"/>
                </a:solidFill>
                <a:latin typeface="Calibri"/>
              </a:rPr>
              <a:t>повторных вопросов
в дежурные чаты поддержки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1170432" cy="365760"/>
          </a:xfrm>
          <a:prstGeom prst="roundRect">
            <a:avLst>
              <a:gd name="adj" fmla="val 35000"/>
            </a:avLst>
          </a:prstGeom>
          <a:solidFill>
            <a:srgbClr val="EDE6DA"/>
          </a:solidFill>
          <a:ln w="9525">
            <a:solidFill>
              <a:srgbClr val="C9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000" b="1">
                <a:solidFill>
                  <a:srgbClr val="7C5A22"/>
                </a:solidFill>
                <a:latin typeface="Calibri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5211D"/>
                </a:solidFill>
                <a:latin typeface="Calibri"/>
              </a:rPr>
              <a:t>БочкарИИ — один чат для всей базы знаний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25211D"/>
                </a:solidFill>
                <a:latin typeface="Calibri"/>
              </a:rPr>
              <a:t>Сотрудник задаёт вопрос человеческим языком — система находит документы, показывает цитаты с релевантностью и формирует ответ. Всё локально.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87168"/>
            <a:ext cx="3520440" cy="2240281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109728" rtlCol="0" anchor="t"/>
          <a:lstStyle/>
          <a:p>
            <a:pPr algn="l"/>
            <a:r>
              <a:rPr sz="2000" b="0">
                <a:solidFill>
                  <a:srgbClr val="25211D"/>
                </a:solidFill>
                <a:latin typeface="Calibri"/>
              </a:rPr>
              <a:t>💬
</a:t>
            </a:r>
          </a:p>
          <a:p>
            <a:pPr algn="l"/>
            <a:r>
              <a:rPr sz="1300" b="1">
                <a:solidFill>
                  <a:srgbClr val="25211D"/>
                </a:solidFill>
                <a:latin typeface="Calibri"/>
              </a:rPr>
              <a:t>Естественный язык
</a:t>
            </a:r>
          </a:p>
          <a:p>
            <a:pPr algn="l"/>
            <a:r>
              <a:rPr sz="1050" b="0">
                <a:solidFill>
                  <a:srgbClr val="5E554A"/>
                </a:solidFill>
                <a:latin typeface="Calibri"/>
              </a:rPr>
              <a:t>Спрашиваем как человека: «как добавить пользователя в 1С?» — без ключевых слов и фильтров.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2487168"/>
            <a:ext cx="3520440" cy="2240281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109728" rtlCol="0" anchor="t"/>
          <a:lstStyle/>
          <a:p>
            <a:pPr algn="l"/>
            <a:r>
              <a:rPr sz="2000" b="0">
                <a:solidFill>
                  <a:srgbClr val="25211D"/>
                </a:solidFill>
                <a:latin typeface="Calibri"/>
              </a:rPr>
              <a:t>📑
</a:t>
            </a:r>
          </a:p>
          <a:p>
            <a:pPr algn="l"/>
            <a:r>
              <a:rPr sz="1300" b="1">
                <a:solidFill>
                  <a:srgbClr val="25211D"/>
                </a:solidFill>
                <a:latin typeface="Calibri"/>
              </a:rPr>
              <a:t>Ответы со ссылками
</a:t>
            </a:r>
          </a:p>
          <a:p>
            <a:pPr algn="l"/>
            <a:r>
              <a:rPr sz="1050" b="0">
                <a:solidFill>
                  <a:srgbClr val="5E554A"/>
                </a:solidFill>
                <a:latin typeface="Calibri"/>
              </a:rPr>
              <a:t>Каждый ответ — с источниками, цитатами и оценкой релевантности. Можно перейти прямо в документ.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5864" y="2487168"/>
            <a:ext cx="3520440" cy="2240281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109728" rtlCol="0" anchor="t"/>
          <a:lstStyle/>
          <a:p>
            <a:pPr algn="l"/>
            <a:r>
              <a:rPr sz="2000" b="0">
                <a:solidFill>
                  <a:srgbClr val="25211D"/>
                </a:solidFill>
                <a:latin typeface="Calibri"/>
              </a:rPr>
              <a:t>🔒
</a:t>
            </a:r>
          </a:p>
          <a:p>
            <a:pPr algn="l"/>
            <a:r>
              <a:rPr sz="1300" b="1">
                <a:solidFill>
                  <a:srgbClr val="25211D"/>
                </a:solidFill>
                <a:latin typeface="Calibri"/>
              </a:rPr>
              <a:t>Локально и безопасно
</a:t>
            </a:r>
          </a:p>
          <a:p>
            <a:pPr algn="l"/>
            <a:r>
              <a:rPr sz="1050" b="0">
                <a:solidFill>
                  <a:srgbClr val="5E554A"/>
                </a:solidFill>
                <a:latin typeface="Calibri"/>
              </a:rPr>
              <a:t>Векторная база, LLM, документы — всё на наших серверах. Ничего не уходит в облако.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3246120" cy="365760"/>
          </a:xfrm>
          <a:prstGeom prst="roundRect">
            <a:avLst>
              <a:gd name="adj" fmla="val 35000"/>
            </a:avLst>
          </a:prstGeom>
          <a:solidFill>
            <a:srgbClr val="EDE6DA"/>
          </a:solidFill>
          <a:ln w="9525">
            <a:solidFill>
              <a:srgbClr val="C9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000" b="1">
                <a:solidFill>
                  <a:srgbClr val="7C5A22"/>
                </a:solidFill>
                <a:latin typeface="Calibri"/>
              </a:rPr>
              <a:t>ЧТО СПРАШИВАЮТ НА ПРАКТИКЕ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5211D"/>
                </a:solidFill>
                <a:latin typeface="Calibri"/>
              </a:rPr>
              <a:t>Шесть запросов, которые ассистент закрывает каждый день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12848"/>
            <a:ext cx="5321808" cy="93268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09728" bIns="73152" rtlCol="0" anchor="t"/>
          <a:lstStyle/>
          <a:p>
            <a:pPr algn="ctr"/>
            <a:r>
              <a:rPr sz="1100" b="0" dirty="0">
                <a:solidFill>
                  <a:srgbClr val="25211D"/>
                </a:solidFill>
                <a:latin typeface="Calibri"/>
              </a:rPr>
              <a:t>“ </a:t>
            </a:r>
            <a:r>
              <a:rPr sz="1100" b="0" dirty="0" err="1">
                <a:solidFill>
                  <a:srgbClr val="25211D"/>
                </a:solidFill>
                <a:latin typeface="Calibri"/>
              </a:rPr>
              <a:t>Как</a:t>
            </a:r>
            <a:r>
              <a:rPr sz="11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25211D"/>
                </a:solidFill>
                <a:latin typeface="Calibri"/>
              </a:rPr>
              <a:t>сделать</a:t>
            </a:r>
            <a:r>
              <a:rPr sz="11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25211D"/>
                </a:solidFill>
                <a:latin typeface="Calibri"/>
              </a:rPr>
              <a:t>рассылку</a:t>
            </a:r>
            <a:r>
              <a:rPr sz="11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25211D"/>
                </a:solidFill>
                <a:latin typeface="Calibri"/>
              </a:rPr>
              <a:t>должникам</a:t>
            </a:r>
            <a:r>
              <a:rPr sz="1100" b="0" dirty="0">
                <a:solidFill>
                  <a:srgbClr val="25211D"/>
                </a:solidFill>
                <a:latin typeface="Calibri"/>
              </a:rPr>
              <a:t>?</a:t>
            </a:r>
          </a:p>
          <a:p>
            <a:r>
              <a:rPr sz="750" b="1" dirty="0">
                <a:solidFill>
                  <a:srgbClr val="7C5A22"/>
                </a:solidFill>
                <a:latin typeface="Calibri"/>
              </a:rPr>
              <a:t>МАРКЕТИНГ · CRM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2212848"/>
            <a:ext cx="5321808" cy="93268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09728" bIns="73152" rtlCol="0" anchor="t"/>
          <a:lstStyle/>
          <a:p>
            <a:pPr algn="ctr"/>
            <a:r>
              <a:rPr sz="1100" b="0">
                <a:solidFill>
                  <a:srgbClr val="25211D"/>
                </a:solidFill>
                <a:latin typeface="Calibri"/>
              </a:rPr>
              <a:t>“ Как настроить состояние сертификации?</a:t>
            </a:r>
          </a:p>
          <a:p>
            <a:r>
              <a:rPr sz="750" b="1">
                <a:solidFill>
                  <a:srgbClr val="7C5A22"/>
                </a:solidFill>
                <a:latin typeface="Calibri"/>
              </a:rPr>
              <a:t>КАЧЕСТВО · ПРОЦЕССЫ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73552"/>
            <a:ext cx="5321808" cy="93268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09728" bIns="73152" rtlCol="0" anchor="t"/>
          <a:lstStyle/>
          <a:p>
            <a:pPr algn="ctr"/>
            <a:r>
              <a:rPr sz="1100" b="0">
                <a:solidFill>
                  <a:srgbClr val="25211D"/>
                </a:solidFill>
                <a:latin typeface="Calibri"/>
              </a:rPr>
              <a:t>“ Инструкция по добавлению пользователя в 1С</a:t>
            </a:r>
          </a:p>
          <a:p>
            <a:r>
              <a:rPr sz="750" b="1">
                <a:solidFill>
                  <a:srgbClr val="7C5A22"/>
                </a:solidFill>
                <a:latin typeface="Calibri"/>
              </a:rPr>
              <a:t>1С · АДМИНИСТРИРОВАНИЕ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3273552"/>
            <a:ext cx="5321808" cy="93268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09728" bIns="73152" rtlCol="0" anchor="t"/>
          <a:lstStyle/>
          <a:p>
            <a:pPr algn="ctr"/>
            <a:r>
              <a:rPr sz="1100" b="0">
                <a:solidFill>
                  <a:srgbClr val="25211D"/>
                </a:solidFill>
                <a:latin typeface="Calibri"/>
              </a:rPr>
              <a:t>“ Как найти ошибку в журнале регистрации?</a:t>
            </a:r>
          </a:p>
          <a:p>
            <a:r>
              <a:rPr sz="750" b="1">
                <a:solidFill>
                  <a:srgbClr val="7C5A22"/>
                </a:solidFill>
                <a:latin typeface="Calibri"/>
              </a:rPr>
              <a:t>ЭКСПЛУАТАЦИЯ · 1С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34256"/>
            <a:ext cx="5321808" cy="93268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09728" bIns="73152" rtlCol="0" anchor="t"/>
          <a:lstStyle/>
          <a:p>
            <a:pPr algn="ctr"/>
            <a:r>
              <a:rPr sz="1100" b="0">
                <a:solidFill>
                  <a:srgbClr val="25211D"/>
                </a:solidFill>
                <a:latin typeface="Calibri"/>
              </a:rPr>
              <a:t>“ Что делать с ошибкой «недостаточно прав для работы с таблицей»?</a:t>
            </a:r>
          </a:p>
          <a:p>
            <a:r>
              <a:rPr sz="750" b="1">
                <a:solidFill>
                  <a:srgbClr val="7C5A22"/>
                </a:solidFill>
                <a:latin typeface="Calibri"/>
              </a:rPr>
              <a:t>1С · ПРАВА ДОСТУПА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4334256"/>
            <a:ext cx="5321808" cy="93268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09728" bIns="73152" rtlCol="0" anchor="t"/>
          <a:lstStyle/>
          <a:p>
            <a:pPr algn="ctr"/>
            <a:r>
              <a:rPr sz="1100" b="0">
                <a:solidFill>
                  <a:srgbClr val="25211D"/>
                </a:solidFill>
                <a:latin typeface="Calibri"/>
              </a:rPr>
              <a:t>“ Количество поэкземплярной продукции не соответствует количеству подобранного товара</a:t>
            </a:r>
          </a:p>
          <a:p>
            <a:r>
              <a:rPr sz="750" b="1">
                <a:solidFill>
                  <a:srgbClr val="7C5A22"/>
                </a:solidFill>
                <a:latin typeface="Calibri"/>
              </a:rPr>
              <a:t>СКЛАД · ТСД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704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E554A"/>
                </a:solidFill>
                <a:latin typeface="Calibri"/>
              </a:rPr>
              <a:t>Разные домены — 1С, склад, маркетинг, эксплуатация. Одна точка входа.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2423160" cy="365760"/>
          </a:xfrm>
          <a:prstGeom prst="roundRect">
            <a:avLst>
              <a:gd name="adj" fmla="val 35000"/>
            </a:avLst>
          </a:prstGeom>
          <a:solidFill>
            <a:srgbClr val="EDE6DA"/>
          </a:solidFill>
          <a:ln w="9525">
            <a:solidFill>
              <a:srgbClr val="C9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000" b="1">
                <a:solidFill>
                  <a:srgbClr val="7C5A22"/>
                </a:solidFill>
                <a:latin typeface="Calibri"/>
              </a:rPr>
              <a:t>АРХИТЕКТУРА ОДНИМ ВЗГЛЯДОМ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25211D"/>
                </a:solidFill>
                <a:latin typeface="Calibri"/>
              </a:rPr>
              <a:t>Как</a:t>
            </a:r>
            <a:r>
              <a:rPr sz="2800" b="1" dirty="0">
                <a:solidFill>
                  <a:srgbClr val="25211D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25211D"/>
                </a:solidFill>
                <a:latin typeface="Calibri"/>
              </a:rPr>
              <a:t>вопрос</a:t>
            </a:r>
            <a:r>
              <a:rPr sz="2800" b="1" dirty="0">
                <a:solidFill>
                  <a:srgbClr val="25211D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25211D"/>
                </a:solidFill>
                <a:latin typeface="Calibri"/>
              </a:rPr>
              <a:t>превращается</a:t>
            </a:r>
            <a:r>
              <a:rPr sz="2800" b="1" dirty="0">
                <a:solidFill>
                  <a:srgbClr val="25211D"/>
                </a:solidFill>
                <a:latin typeface="Calibri"/>
              </a:rPr>
              <a:t> в </a:t>
            </a:r>
            <a:r>
              <a:rPr sz="2800" b="1" dirty="0" err="1">
                <a:solidFill>
                  <a:srgbClr val="25211D"/>
                </a:solidFill>
                <a:latin typeface="Calibri"/>
              </a:rPr>
              <a:t>ответ</a:t>
            </a:r>
            <a:endParaRPr sz="2800" b="1" dirty="0">
              <a:solidFill>
                <a:srgbClr val="25211D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dirty="0" err="1">
                <a:solidFill>
                  <a:srgbClr val="5E554A"/>
                </a:solidFill>
                <a:latin typeface="Calibri"/>
              </a:rPr>
              <a:t>Коротко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: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вы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отправляете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текст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вопроса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—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это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не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«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разговор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с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интернетом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».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Система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ищет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ответы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в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ваших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документах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,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собирает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контекст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и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просит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LLM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сформулировать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5E554A"/>
                </a:solidFill>
                <a:latin typeface="Calibri"/>
              </a:rPr>
              <a:t>ответ</a:t>
            </a:r>
            <a:r>
              <a:rPr sz="950" b="0" dirty="0">
                <a:solidFill>
                  <a:srgbClr val="5E554A"/>
                </a:solidFill>
                <a:latin typeface="Calibr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58968"/>
            <a:ext cx="4474302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dirty="0">
                <a:solidFill>
                  <a:srgbClr val="25211D"/>
                </a:solidFill>
                <a:latin typeface="Calibri"/>
              </a:rPr>
              <a:t>1.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Вопрос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из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браузера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(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учёт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истории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при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уточнениях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).
2.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Подготовка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к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поиску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: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перефразирование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,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доп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.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формулировки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.
3.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Параллельно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векторный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и BM25-поиск; RRF;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при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необходимости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rerank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458968"/>
            <a:ext cx="3429144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dirty="0">
                <a:solidFill>
                  <a:srgbClr val="25211D"/>
                </a:solidFill>
                <a:latin typeface="Calibri"/>
              </a:rPr>
              <a:t>4. В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модель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—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отобранные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фрагменты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из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базы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знаний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.
5.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Локальная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LLM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формирует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ответ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по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контексту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.
6.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На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экране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—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ответ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,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источники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и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цитаты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для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25211D"/>
                </a:solidFill>
                <a:latin typeface="Calibri"/>
              </a:rPr>
              <a:t>проверки</a:t>
            </a:r>
            <a:r>
              <a:rPr sz="1050" b="0" dirty="0">
                <a:solidFill>
                  <a:srgbClr val="25211D"/>
                </a:solidFill>
                <a:latin typeface="Calibri"/>
              </a:rPr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37445E-CDAC-EC39-E153-7496565B9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1384624"/>
            <a:ext cx="6903720" cy="35564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5A22"/>
                </a:solidFill>
                <a:latin typeface="Calibri"/>
              </a:rPr>
              <a:t>ДЕМО · 1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5211D"/>
                </a:solidFill>
                <a:latin typeface="Calibri"/>
              </a:rPr>
              <a:t>Вход и роли</a:t>
            </a:r>
          </a:p>
        </p:txBody>
      </p:sp>
      <p:pic>
        <p:nvPicPr>
          <p:cNvPr id="4" name="Picture 3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309360" cy="3943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508760"/>
            <a:ext cx="457200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25211D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Логин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по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email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или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username,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пароль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через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корпоративную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учётку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5211D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Две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роли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: user —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чат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и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история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, admin —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плюс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база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знаний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и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диагностика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5211D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Гостевой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режим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только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для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чтения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— в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сайдбаре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знакомые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ранее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чаты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5211D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Сессия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сохраняется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—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переоткрыли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вкладку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продолжили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работу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5A22"/>
                </a:solidFill>
                <a:latin typeface="Calibri"/>
              </a:rPr>
              <a:t>ДЕМО · 2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5211D"/>
                </a:solidFill>
                <a:latin typeface="Calibri"/>
              </a:rPr>
              <a:t>Новый чат и вопрос</a:t>
            </a:r>
          </a:p>
        </p:txBody>
      </p:sp>
      <p:pic>
        <p:nvPicPr>
          <p:cNvPr id="4" name="Picture 3" descr="02-new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309360" cy="3943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5087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«Новый чат» создаётся в один клик — слева в сайдбаре.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Пишем естественным языком: «Инструкция по добавлению пользователя в 1С».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В тулбаре — стиль ответа, сколько источников искать, минимальная релевантность.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История переписывается — уточняющий вопрос «а как для роли админа?» работает.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5A22"/>
                </a:solidFill>
                <a:latin typeface="Calibri"/>
              </a:rPr>
              <a:t>ДЕМО · 3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5211D"/>
                </a:solidFill>
                <a:latin typeface="Calibri"/>
              </a:rPr>
              <a:t>Ответ с источниками</a:t>
            </a:r>
          </a:p>
        </p:txBody>
      </p:sp>
      <p:pic>
        <p:nvPicPr>
          <p:cNvPr id="4" name="Picture 3" descr="Screenshot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309360" cy="409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5087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25211D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Под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ответом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—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кнопка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«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Источники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»: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справа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выезжает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панель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с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цитатами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5211D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Видно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релевантность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каждого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источника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и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путь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до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раздела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документа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5211D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Кнопка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«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Открыть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»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ведёт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в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исходный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файл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5211D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Оценка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«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Полезно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/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Не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полезно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» —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обратная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связь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по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качеству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5211D"/>
                </a:solidFill>
                <a:latin typeface="Calibri"/>
              </a:rPr>
              <a:t>ответов</a:t>
            </a:r>
            <a:r>
              <a:rPr sz="1300" b="0" dirty="0">
                <a:solidFill>
                  <a:srgbClr val="25211D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5A22"/>
                </a:solidFill>
                <a:latin typeface="Calibri"/>
              </a:rPr>
              <a:t>ДЕМО · 4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5211D"/>
                </a:solidFill>
                <a:latin typeface="Calibri"/>
              </a:rPr>
              <a:t>История диалогов</a:t>
            </a:r>
          </a:p>
        </p:txBody>
      </p:sp>
      <p:pic>
        <p:nvPicPr>
          <p:cNvPr id="4" name="Picture 3" descr="04-cha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309360" cy="3943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5087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Все чаты сохраняются автоматически с понятными заголовками.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Поиск по истории — быстро найти прошлый диалог.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Переименование, удаление одного чата или очистка всей истории.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«Скачать диалог» — выгрузка в текстовый файл.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5A22"/>
                </a:solidFill>
                <a:latin typeface="Calibri"/>
              </a:rPr>
              <a:t>ДЕМО · 5 / 6 · ТОЛЬКО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5211D"/>
                </a:solidFill>
                <a:latin typeface="Calibri"/>
              </a:rPr>
              <a:t>База знаний</a:t>
            </a:r>
          </a:p>
        </p:txBody>
      </p:sp>
      <p:pic>
        <p:nvPicPr>
          <p:cNvPr id="4" name="Picture 3" descr="Screenshot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309360" cy="41041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5087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PDF, DOCX, XLSX, PPTX, HTML — нарезка и индексация.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Предпросмотр показывает разбиение на чанки до индексации.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«Переиндексировать» — фоновая задача, статус в UI.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Актуализация регламентов без участия разработки.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5A22"/>
                </a:solidFill>
                <a:latin typeface="Calibri"/>
              </a:rPr>
              <a:t>ДЕМО · 6 / 6 · ТОЛЬКО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25211D"/>
                </a:solidFill>
                <a:latin typeface="Calibri"/>
              </a:rPr>
              <a:t>Админ-консоль</a:t>
            </a:r>
            <a:endParaRPr sz="2800" b="1" dirty="0">
              <a:solidFill>
                <a:srgbClr val="25211D"/>
              </a:solidFill>
              <a:latin typeface="Calibri"/>
            </a:endParaRPr>
          </a:p>
        </p:txBody>
      </p:sp>
      <p:pic>
        <p:nvPicPr>
          <p:cNvPr id="4" name="Picture 3" descr="Screenshot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309360" cy="41249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5087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Статус LLM, размер коллекции ChromaDB, активные модели.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Метрики: диалоги, сообщения, оценки.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Риски качества: устаревшие документы, дубли, слабая релевантность.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11D"/>
                </a:solidFill>
                <a:latin typeface="Calibri"/>
              </a:rPr>
              <a:t>• Всё нужное дежурному админу на одной странице.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691640" cy="347472"/>
          </a:xfrm>
          <a:prstGeom prst="roundRect">
            <a:avLst>
              <a:gd name="adj" fmla="val 35000"/>
            </a:avLst>
          </a:prstGeom>
          <a:solidFill>
            <a:srgbClr val="EDE6DA"/>
          </a:solidFill>
          <a:ln w="9525">
            <a:solidFill>
              <a:srgbClr val="C9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000" b="1">
                <a:solidFill>
                  <a:srgbClr val="7C5A22"/>
                </a:solidFill>
                <a:latin typeface="Calibri"/>
              </a:rPr>
              <a:t>ПОД КАПОТОМ ·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5211D"/>
                </a:solidFill>
                <a:latin typeface="Calibri"/>
              </a:rPr>
              <a:t>Гибридный поиск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1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 err="1">
                <a:solidFill>
                  <a:srgbClr val="5E554A"/>
                </a:solidFill>
                <a:latin typeface="Calibri"/>
              </a:rPr>
              <a:t>Одной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технологии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поиска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недостаточно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: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кто-то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формулирует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как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в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регламенте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кто-то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—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своими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словами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.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Запрос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идёт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двумя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дорожками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результаты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склеиваются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—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не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теряем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ни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точное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слово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ни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смысловой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абзац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810512"/>
            <a:ext cx="11109960" cy="310896"/>
          </a:xfrm>
          <a:prstGeom prst="roundRect">
            <a:avLst>
              <a:gd name="adj" fmla="val 35000"/>
            </a:avLst>
          </a:prstGeom>
          <a:solidFill>
            <a:srgbClr val="FFFDF8"/>
          </a:solidFill>
          <a:ln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720" b="0">
                <a:solidFill>
                  <a:srgbClr val="25211D"/>
                </a:solidFill>
                <a:latin typeface="Calibri"/>
              </a:rPr>
              <a:t>Запрос   →   BM25   +   Dense   →   RRF   →   Rerank   →   Top-K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5211D"/>
                </a:solidFill>
                <a:latin typeface="Calibri"/>
              </a:rPr>
              <a:t>• По словам (BM25) — как умный Ctrl+F: «журнал регистрации», «ЭЦП», «ТСД».
• По смыслу (Chroma) — другие формулировки ведут к тому же регламенту.
• RRF — два топа кандидатов в одном рейтинге.
• Rerank (опционально) — пересортировка по релевантности к вопросу.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90672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91440" rtlCol="0" anchor="t"/>
          <a:lstStyle/>
          <a:p>
            <a:pPr algn="ctr"/>
            <a:r>
              <a:rPr sz="1100" b="1">
                <a:solidFill>
                  <a:srgbClr val="25211D"/>
                </a:solidFill>
                <a:latin typeface="Calibri"/>
              </a:rPr>
              <a:t>Пример 1 — термины 1С
</a:t>
            </a:r>
          </a:p>
          <a:p>
            <a:r>
              <a:rPr sz="1000" b="0">
                <a:solidFill>
                  <a:srgbClr val="5E554A"/>
                </a:solidFill>
                <a:latin typeface="Calibri"/>
              </a:rPr>
              <a:t>«Ошибка в журнале регистрации» — BM25 цепляет дословно; если в wiki написано «просмотр событий», помогает поиск по смыслу.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90672"/>
            <a:ext cx="59436" cy="1005840"/>
          </a:xfrm>
          <a:prstGeom prst="rect">
            <a:avLst/>
          </a:prstGeom>
          <a:solidFill>
            <a:srgbClr val="A5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0" y="3090672"/>
            <a:ext cx="5486400" cy="10058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91440" rtlCol="0" anchor="t"/>
          <a:lstStyle/>
          <a:p>
            <a:pPr algn="ctr"/>
            <a:r>
              <a:rPr sz="1100" b="1">
                <a:solidFill>
                  <a:srgbClr val="25211D"/>
                </a:solidFill>
                <a:latin typeface="Calibri"/>
              </a:rPr>
              <a:t>Пример 2 — «живой» вопрос
</a:t>
            </a:r>
          </a:p>
          <a:p>
            <a:r>
              <a:rPr sz="1000" b="0">
                <a:solidFill>
                  <a:srgbClr val="5E554A"/>
                </a:solidFill>
                <a:latin typeface="Calibri"/>
              </a:rPr>
              <a:t>«Рассылка должникам» vs «информирование о задолженности» в документе — смысл тянет нужный блок; BM25 подхватывает «должник», «рассылка», если они есть в тексте.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090672"/>
            <a:ext cx="59436" cy="1005840"/>
          </a:xfrm>
          <a:prstGeom prst="rect">
            <a:avLst/>
          </a:prstGeom>
          <a:solidFill>
            <a:srgbClr val="A5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4187952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91440" rtlCol="0" anchor="t"/>
          <a:lstStyle/>
          <a:p>
            <a:pPr algn="ctr"/>
            <a:r>
              <a:rPr sz="1100" b="1">
                <a:solidFill>
                  <a:srgbClr val="25211D"/>
                </a:solidFill>
                <a:latin typeface="Calibri"/>
              </a:rPr>
              <a:t>Итог для модели
</a:t>
            </a:r>
          </a:p>
          <a:p>
            <a:r>
              <a:rPr sz="1000" b="0">
                <a:solidFill>
                  <a:srgbClr val="5E554A"/>
                </a:solidFill>
                <a:latin typeface="Calibri"/>
              </a:rPr>
              <a:t>В промпт попадают лучшие отрывки из вашей базы после слияния и (если включено) rerank — не «интернет из головы», а ваши документы.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87952"/>
            <a:ext cx="59436" cy="658368"/>
          </a:xfrm>
          <a:prstGeom prst="rect">
            <a:avLst/>
          </a:prstGeom>
          <a:solidFill>
            <a:srgbClr val="A5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691640" cy="347472"/>
          </a:xfrm>
          <a:prstGeom prst="roundRect">
            <a:avLst>
              <a:gd name="adj" fmla="val 35000"/>
            </a:avLst>
          </a:prstGeom>
          <a:solidFill>
            <a:srgbClr val="EDE6DA"/>
          </a:solidFill>
          <a:ln w="9525">
            <a:solidFill>
              <a:srgbClr val="C9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000" b="1">
                <a:solidFill>
                  <a:srgbClr val="7C5A22"/>
                </a:solidFill>
                <a:latin typeface="Calibri"/>
              </a:rPr>
              <a:t>ПОД КАПОТОМ ·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5211D"/>
                </a:solidFill>
                <a:latin typeface="Calibri"/>
              </a:rPr>
              <a:t>Структурное чанкирование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 err="1">
                <a:solidFill>
                  <a:srgbClr val="5E554A"/>
                </a:solidFill>
                <a:latin typeface="Calibri"/>
              </a:rPr>
              <a:t>Документ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нарезаем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не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«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через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каждые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500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символов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», а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по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структуре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: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заголовки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списки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таблицы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. К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каждому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чанку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добавляем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контекст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раздела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48256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25211D"/>
                </a:solidFill>
                <a:latin typeface="Calibri"/>
              </a:rPr>
              <a:t>• HTML —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обход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DOM: h1–h6,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ul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/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ol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, table.
• DOCX —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стили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Heading*,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таблицы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по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строкам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.
•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Метаданные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: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section_path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chunk_kind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—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путь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раздела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виден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в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источниках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.
• Contextual Retrieval: LLM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добавляет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к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чанку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короткую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аннотацию-префикс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перед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эмбеддингом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10972800" cy="10058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91440" rtlCol="0" anchor="t"/>
          <a:lstStyle/>
          <a:p>
            <a:pPr algn="ctr"/>
            <a:r>
              <a:rPr sz="1100" b="1">
                <a:solidFill>
                  <a:srgbClr val="25211D"/>
                </a:solidFill>
                <a:latin typeface="Calibri"/>
              </a:rPr>
              <a:t>Пример
</a:t>
            </a:r>
          </a:p>
          <a:p>
            <a:r>
              <a:rPr sz="1000" b="0">
                <a:solidFill>
                  <a:srgbClr val="5E554A"/>
                </a:solidFill>
                <a:latin typeface="Calibri"/>
              </a:rPr>
              <a:t>Регламент 1С на 40 страниц делится по разделам — ассистент находит именно пункт «Раздача прав на конкретный документ», а не возвращает весь документ или невнятный кусок из середины.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59436" cy="1005840"/>
          </a:xfrm>
          <a:prstGeom prst="rect">
            <a:avLst/>
          </a:prstGeom>
          <a:solidFill>
            <a:srgbClr val="A5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691640" cy="347472"/>
          </a:xfrm>
          <a:prstGeom prst="roundRect">
            <a:avLst>
              <a:gd name="adj" fmla="val 35000"/>
            </a:avLst>
          </a:prstGeom>
          <a:solidFill>
            <a:srgbClr val="EDE6DA"/>
          </a:solidFill>
          <a:ln w="9525">
            <a:solidFill>
              <a:srgbClr val="C9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000" b="1">
                <a:solidFill>
                  <a:srgbClr val="7C5A22"/>
                </a:solidFill>
                <a:latin typeface="Calibri"/>
              </a:rPr>
              <a:t>ПОД КАПОТОМ ·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5211D"/>
                </a:solidFill>
                <a:latin typeface="Calibri"/>
              </a:rPr>
              <a:t>Память диалога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1216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ru-RU" sz="1000" b="0" dirty="0">
              <a:solidFill>
                <a:srgbClr val="5E554A"/>
              </a:solidFill>
              <a:latin typeface="Calibri"/>
            </a:endParaRPr>
          </a:p>
          <a:p>
            <a:r>
              <a:rPr sz="1000" b="0" dirty="0" err="1">
                <a:solidFill>
                  <a:srgbClr val="5E554A"/>
                </a:solidFill>
                <a:latin typeface="Calibri"/>
              </a:rPr>
              <a:t>Уточняющие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вопросы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«а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для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админа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?»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работают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потому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что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мы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переписываем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запрос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с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учётом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истории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добавляем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альтернативные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формулировки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и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гипотетический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ответ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(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HyDE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4989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25211D"/>
                </a:solidFill>
                <a:latin typeface="Calibri"/>
              </a:rPr>
              <a:t>• Rewrite —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уточнение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в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один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самодостаточный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запрос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для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поиска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.
• Multi-query — 2–3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альтернативные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формулировки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объединение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результатов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.
•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HyDE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—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гипотетический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ответ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как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дополнительный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dense-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запрос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.
•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Переписанный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запрос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 в SQLite (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retrieval_query_text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) — </a:t>
            </a:r>
            <a:r>
              <a:rPr sz="1000" b="0" dirty="0" err="1">
                <a:solidFill>
                  <a:srgbClr val="25211D"/>
                </a:solidFill>
                <a:latin typeface="Calibri"/>
              </a:rPr>
              <a:t>отладка</a:t>
            </a:r>
            <a:r>
              <a:rPr sz="1000" b="0" dirty="0">
                <a:solidFill>
                  <a:srgbClr val="25211D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91440" rtlCol="0" anchor="t"/>
          <a:lstStyle/>
          <a:p>
            <a:pPr algn="ctr"/>
            <a:r>
              <a:rPr sz="1100" b="1" dirty="0" err="1">
                <a:solidFill>
                  <a:srgbClr val="25211D"/>
                </a:solidFill>
                <a:latin typeface="Calibri"/>
              </a:rPr>
              <a:t>Сценарий</a:t>
            </a:r>
            <a:r>
              <a:rPr sz="1100" b="1" dirty="0">
                <a:solidFill>
                  <a:srgbClr val="25211D"/>
                </a:solidFill>
                <a:latin typeface="Calibri"/>
              </a:rPr>
              <a:t>
</a:t>
            </a:r>
          </a:p>
          <a:p>
            <a:r>
              <a:rPr sz="1000" b="0" dirty="0" err="1">
                <a:solidFill>
                  <a:srgbClr val="5E554A"/>
                </a:solidFill>
                <a:latin typeface="Calibri"/>
              </a:rPr>
              <a:t>Пользователь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: «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Как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добавить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пользователя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в 1С?» →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ассистент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отвечает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→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Пользователь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: «А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как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для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роли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админа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?» →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система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переписывает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запрос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в «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Как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добавить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пользователя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1С с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ролью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администратор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» и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находит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правильный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E554A"/>
                </a:solidFill>
                <a:latin typeface="Calibri"/>
              </a:rPr>
              <a:t>раздел</a:t>
            </a:r>
            <a:r>
              <a:rPr sz="1000" b="0" dirty="0">
                <a:solidFill>
                  <a:srgbClr val="5E554A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066" y="3108960"/>
            <a:ext cx="59436" cy="1143000"/>
          </a:xfrm>
          <a:prstGeom prst="rect">
            <a:avLst/>
          </a:prstGeom>
          <a:solidFill>
            <a:srgbClr val="A5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1508760" cy="365760"/>
          </a:xfrm>
          <a:prstGeom prst="roundRect">
            <a:avLst>
              <a:gd name="adj" fmla="val 35000"/>
            </a:avLst>
          </a:prstGeom>
          <a:solidFill>
            <a:srgbClr val="EDE6DA"/>
          </a:solidFill>
          <a:ln w="9525">
            <a:solidFill>
              <a:srgbClr val="C9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000" b="1">
                <a:solidFill>
                  <a:srgbClr val="7C5A22"/>
                </a:solidFill>
                <a:latin typeface="Calibri"/>
              </a:rPr>
              <a:t>СТЕК И ИНТЕГРАЦИИ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5211D"/>
                </a:solidFill>
                <a:latin typeface="Calibri"/>
              </a:rPr>
              <a:t>Из чего собрано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36192"/>
            <a:ext cx="2697480" cy="1655064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ctr"/>
            <a:r>
              <a:rPr sz="1150" b="1">
                <a:solidFill>
                  <a:srgbClr val="5D4218"/>
                </a:solidFill>
                <a:latin typeface="Calibri"/>
              </a:rPr>
              <a:t>Бэкенд
</a:t>
            </a:r>
          </a:p>
          <a:p>
            <a:r>
              <a:rPr sz="1000" b="0">
                <a:solidFill>
                  <a:srgbClr val="25211D"/>
                </a:solidFill>
                <a:latin typeface="Calibri"/>
              </a:rPr>
              <a:t>• Python 3.10+
• Flask + Flask-Cors
• SQLite (история, пользователи)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4136" y="1536192"/>
            <a:ext cx="2697480" cy="1655064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ctr"/>
            <a:r>
              <a:rPr sz="1150" b="1">
                <a:solidFill>
                  <a:srgbClr val="5D4218"/>
                </a:solidFill>
                <a:latin typeface="Calibri"/>
              </a:rPr>
              <a:t>Поиск
</a:t>
            </a:r>
          </a:p>
          <a:p>
            <a:r>
              <a:rPr sz="1000" b="0">
                <a:solidFill>
                  <a:srgbClr val="25211D"/>
                </a:solidFill>
                <a:latin typeface="Calibri"/>
              </a:rPr>
              <a:t>• ChromaDB (dense)
• rank-bm25 (sparse)
• sentence-transformers (rerank)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36192"/>
            <a:ext cx="2697480" cy="1655064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ctr"/>
            <a:r>
              <a:rPr sz="1150" b="1">
                <a:solidFill>
                  <a:srgbClr val="5D4218"/>
                </a:solidFill>
                <a:latin typeface="Calibri"/>
              </a:rPr>
              <a:t>LLM
</a:t>
            </a:r>
          </a:p>
          <a:p>
            <a:r>
              <a:rPr sz="1000" b="0">
                <a:solidFill>
                  <a:srgbClr val="25211D"/>
                </a:solidFill>
                <a:latin typeface="Calibri"/>
              </a:rPr>
              <a:t>• Ollama (Docker / native)
• LM Studio
• bge-m3, qwen2.5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71432" y="1536192"/>
            <a:ext cx="2697480" cy="1655064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D8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ctr"/>
            <a:r>
              <a:rPr sz="1150" b="1">
                <a:solidFill>
                  <a:srgbClr val="5D4218"/>
                </a:solidFill>
                <a:latin typeface="Calibri"/>
              </a:rPr>
              <a:t>Источники / каналы
</a:t>
            </a:r>
          </a:p>
          <a:p>
            <a:r>
              <a:rPr sz="1000" b="0">
                <a:solidFill>
                  <a:srgbClr val="25211D"/>
                </a:solidFill>
                <a:latin typeface="Calibri"/>
              </a:rPr>
              <a:t>• Импорт XWiki
• PDF, DOCX, XLSX, PPTX, 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57016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E554A"/>
                </a:solidFill>
                <a:latin typeface="Calibri"/>
              </a:rPr>
              <a:t>Запуск: python web_app.py или start.bat. Документация: README.md, docs/user_guide.md, docs/CHANGELOG_RAG_2026-05.md.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2640" y="1426464"/>
            <a:ext cx="764743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7C5A22"/>
                </a:solidFill>
                <a:latin typeface="Calibri"/>
              </a:rPr>
              <a:t>СПАСИБО
</a:t>
            </a:r>
            <a:r>
              <a:rPr sz="3600" b="1" dirty="0" err="1">
                <a:solidFill>
                  <a:srgbClr val="25211D"/>
                </a:solidFill>
                <a:latin typeface="Calibri"/>
              </a:rPr>
              <a:t>Вопросы</a:t>
            </a:r>
            <a:r>
              <a:rPr sz="3600" b="1" dirty="0">
                <a:solidFill>
                  <a:srgbClr val="25211D"/>
                </a:solidFill>
                <a:latin typeface="Calibri"/>
              </a:rPr>
              <a:t>?
</a:t>
            </a:r>
            <a:r>
              <a:rPr sz="1400" b="0" dirty="0" err="1">
                <a:solidFill>
                  <a:srgbClr val="5E554A"/>
                </a:solidFill>
                <a:latin typeface="Calibri"/>
              </a:rPr>
              <a:t>Попробовать</a:t>
            </a:r>
            <a:r>
              <a:rPr sz="1400" b="0" dirty="0">
                <a:solidFill>
                  <a:srgbClr val="5E554A"/>
                </a:solidFill>
                <a:latin typeface="Calibri"/>
              </a:rPr>
              <a:t> — </a:t>
            </a:r>
            <a:r>
              <a:rPr lang="en-US" sz="1400" b="0" dirty="0">
                <a:solidFill>
                  <a:srgbClr val="5E554A"/>
                </a:solidFill>
                <a:latin typeface="Calibri"/>
              </a:rPr>
              <a:t>https://github.com/zeus22ru/wiki_4</a:t>
            </a:r>
            <a:r>
              <a:rPr sz="1400" b="0" dirty="0">
                <a:solidFill>
                  <a:srgbClr val="5E554A"/>
                </a:solidFill>
                <a:latin typeface="Calibri"/>
              </a:rPr>
              <a:t>
</a:t>
            </a:r>
            <a:r>
              <a:rPr sz="1400" b="0" dirty="0" err="1">
                <a:solidFill>
                  <a:srgbClr val="5E554A"/>
                </a:solidFill>
                <a:latin typeface="Calibri"/>
              </a:rPr>
              <a:t>Инструкция</a:t>
            </a:r>
            <a:r>
              <a:rPr sz="1400" b="0" dirty="0">
                <a:solidFill>
                  <a:srgbClr val="5E554A"/>
                </a:solidFill>
                <a:latin typeface="Calibri"/>
              </a:rPr>
              <a:t> — </a:t>
            </a:r>
            <a:r>
              <a:rPr lang="en-US" sz="1400" b="0" dirty="0">
                <a:solidFill>
                  <a:srgbClr val="5E554A"/>
                </a:solidFill>
                <a:latin typeface="Calibri"/>
              </a:rPr>
              <a:t>https://github.com/zeus22ru/wiki_4?tab=readme-ov-file#readme</a:t>
            </a:r>
            <a:r>
              <a:rPr sz="1400" b="0" dirty="0">
                <a:solidFill>
                  <a:srgbClr val="5E554A"/>
                </a:solidFill>
                <a:latin typeface="Calibri"/>
              </a:rPr>
              <a:t>
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Один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вопрос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в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чат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— и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ответ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из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ваших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регламентов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и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инструкций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без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пол</a:t>
            </a:r>
            <a:r>
              <a:rPr lang="ru-RU" sz="2000" b="0" dirty="0">
                <a:solidFill>
                  <a:srgbClr val="25211D"/>
                </a:solidFill>
                <a:latin typeface="Calibri"/>
              </a:rPr>
              <a:t>у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часа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поиска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по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папкам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 и </a:t>
            </a:r>
            <a:r>
              <a:rPr sz="2000" b="0" dirty="0" err="1">
                <a:solidFill>
                  <a:srgbClr val="25211D"/>
                </a:solidFill>
                <a:latin typeface="Calibri"/>
              </a:rPr>
              <a:t>переписке</a:t>
            </a:r>
            <a:r>
              <a:rPr sz="2000" b="0" dirty="0">
                <a:solidFill>
                  <a:srgbClr val="25211D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1390</Words>
  <Application>Microsoft Office PowerPoint</Application>
  <PresentationFormat>Широкоэкранный</PresentationFormat>
  <Paragraphs>117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Сергей Зеленин</cp:lastModifiedBy>
  <cp:revision>11</cp:revision>
  <dcterms:created xsi:type="dcterms:W3CDTF">2013-01-27T09:14:16Z</dcterms:created>
  <dcterms:modified xsi:type="dcterms:W3CDTF">2026-05-03T15:56:02Z</dcterms:modified>
  <cp:category/>
</cp:coreProperties>
</file>